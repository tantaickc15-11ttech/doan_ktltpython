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5" r:id="rId7"/>
    <p:sldId id="26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AE072-F8C1-B881-7917-D41E90A0A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CF02C2-19D2-D093-86FA-4A114A38BF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C93D2C-BD77-2D72-9C2C-F977C824FF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63839D-4A52-A7F0-4317-CD5DDF00FCF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20842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7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85E0BB8-0E64-8B33-9FCE-F7B2408C54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8" y="0"/>
            <a:ext cx="12185522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1870E45-A7B6-9697-B9D2-20494A42FEC1}"/>
              </a:ext>
            </a:extLst>
          </p:cNvPr>
          <p:cNvSpPr txBox="1"/>
          <p:nvPr/>
        </p:nvSpPr>
        <p:spPr>
          <a:xfrm>
            <a:off x="266700" y="835174"/>
            <a:ext cx="609447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n-US" sz="1500" b="1" i="0" dirty="0">
                <a:solidFill>
                  <a:srgbClr val="00B0F0"/>
                </a:solidFill>
                <a:effectLst/>
              </a:rPr>
              <a:t>BÁO CÁO ĐỒ ÁN CUỐI KÌ</a:t>
            </a:r>
            <a:endParaRPr lang="en-US" sz="1500" b="1" dirty="0">
              <a:solidFill>
                <a:srgbClr val="00B0F0"/>
              </a:solidFill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536133-310D-3063-2AC1-691CDF33A8E9}"/>
              </a:ext>
            </a:extLst>
          </p:cNvPr>
          <p:cNvSpPr txBox="1"/>
          <p:nvPr/>
        </p:nvSpPr>
        <p:spPr>
          <a:xfrm>
            <a:off x="266700" y="1204506"/>
            <a:ext cx="615848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n-US" sz="2500" b="1" i="0" cap="all" dirty="0" err="1">
                <a:solidFill>
                  <a:srgbClr val="FFFF00"/>
                </a:solidFill>
                <a:effectLst/>
              </a:rPr>
              <a:t>Kỹ</a:t>
            </a:r>
            <a:r>
              <a:rPr lang="en-US" sz="2500" b="1" i="0" cap="all" dirty="0">
                <a:solidFill>
                  <a:srgbClr val="FFFF00"/>
                </a:solidFill>
                <a:effectLst/>
              </a:rPr>
              <a:t> </a:t>
            </a:r>
            <a:r>
              <a:rPr lang="en-US" sz="2500" b="1" i="0" cap="all" dirty="0" err="1">
                <a:solidFill>
                  <a:srgbClr val="FFFF00"/>
                </a:solidFill>
                <a:effectLst/>
              </a:rPr>
              <a:t>thuậ</a:t>
            </a:r>
            <a:r>
              <a:rPr lang="en-US" sz="2500" b="1" cap="all" dirty="0" err="1">
                <a:solidFill>
                  <a:srgbClr val="FFFF00"/>
                </a:solidFill>
              </a:rPr>
              <a:t>t</a:t>
            </a:r>
            <a:r>
              <a:rPr lang="en-US" sz="2500" b="1" cap="all" dirty="0">
                <a:solidFill>
                  <a:srgbClr val="FFFF00"/>
                </a:solidFill>
              </a:rPr>
              <a:t> </a:t>
            </a:r>
            <a:r>
              <a:rPr lang="en-US" sz="2500" b="1" cap="all" dirty="0" err="1">
                <a:solidFill>
                  <a:srgbClr val="FFFF00"/>
                </a:solidFill>
              </a:rPr>
              <a:t>lập</a:t>
            </a:r>
            <a:r>
              <a:rPr lang="en-US" sz="2500" b="1" cap="all" dirty="0">
                <a:solidFill>
                  <a:srgbClr val="FFFF00"/>
                </a:solidFill>
              </a:rPr>
              <a:t> </a:t>
            </a:r>
            <a:r>
              <a:rPr lang="en-US" sz="2500" b="1" cap="all" dirty="0" err="1">
                <a:solidFill>
                  <a:srgbClr val="FFFF00"/>
                </a:solidFill>
              </a:rPr>
              <a:t>trình</a:t>
            </a:r>
            <a:r>
              <a:rPr lang="en-US" sz="2500" b="1" cap="all" dirty="0">
                <a:solidFill>
                  <a:srgbClr val="FFFF00"/>
                </a:solidFill>
              </a:rPr>
              <a:t> python</a:t>
            </a:r>
            <a:endParaRPr lang="en-US" sz="2500" b="1" cap="all" dirty="0">
              <a:solidFill>
                <a:srgbClr val="FFFF00"/>
              </a:solidFill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0D0954-C4BB-A418-D2E0-C3EB7FD98218}"/>
              </a:ext>
            </a:extLst>
          </p:cNvPr>
          <p:cNvSpPr txBox="1"/>
          <p:nvPr/>
        </p:nvSpPr>
        <p:spPr>
          <a:xfrm>
            <a:off x="10251948" y="0"/>
            <a:ext cx="19400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IE221.F33.LT.CNTT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27BC5B-2D2F-8EFC-6C14-2342871FCBB7}"/>
              </a:ext>
            </a:extLst>
          </p:cNvPr>
          <p:cNvSpPr txBox="1"/>
          <p:nvPr/>
        </p:nvSpPr>
        <p:spPr>
          <a:xfrm>
            <a:off x="554322" y="2273540"/>
            <a:ext cx="565708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n-US" sz="3000" b="1" cap="all" dirty="0">
                <a:solidFill>
                  <a:srgbClr val="FFFF00"/>
                </a:solidFill>
                <a:effectLst/>
              </a:rPr>
              <a:t>HỆ THỐNG PH</a:t>
            </a:r>
            <a:r>
              <a:rPr lang="en-US" sz="3000" b="1" cap="all" dirty="0">
                <a:solidFill>
                  <a:srgbClr val="FFFF00"/>
                </a:solidFill>
              </a:rPr>
              <a:t>ÂN TÍCH DỮ LIỆU TỪ WAZUH VÀ CẢNH BÁO QUA TELEGRAM</a:t>
            </a:r>
            <a:endParaRPr lang="en-US" sz="3000" b="1" cap="all" dirty="0">
              <a:solidFill>
                <a:srgbClr val="FFFF00"/>
              </a:solidFill>
              <a:effectLst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4121B9-150D-F84A-6A8C-B61124944AC5}"/>
              </a:ext>
            </a:extLst>
          </p:cNvPr>
          <p:cNvSpPr txBox="1"/>
          <p:nvPr/>
        </p:nvSpPr>
        <p:spPr>
          <a:xfrm>
            <a:off x="554322" y="1861411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rgbClr val="00B0F0"/>
                </a:solidFill>
              </a:rPr>
              <a:t>Nhóm</a:t>
            </a:r>
            <a:r>
              <a:rPr lang="en-US" b="1" dirty="0">
                <a:solidFill>
                  <a:srgbClr val="00B0F0"/>
                </a:solidFill>
              </a:rPr>
              <a:t> 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75CFDC-D89C-BCB4-7CB0-88D2A90D80F5}"/>
              </a:ext>
            </a:extLst>
          </p:cNvPr>
          <p:cNvSpPr txBox="1"/>
          <p:nvPr/>
        </p:nvSpPr>
        <p:spPr>
          <a:xfrm>
            <a:off x="751332" y="4953374"/>
            <a:ext cx="218887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n-US" sz="1500" b="1" cap="all" dirty="0">
                <a:solidFill>
                  <a:srgbClr val="FFFF00"/>
                </a:solidFill>
                <a:effectLst/>
              </a:rPr>
              <a:t>THS. Nghi </a:t>
            </a:r>
            <a:r>
              <a:rPr lang="en-US" sz="1500" b="1" cap="all" dirty="0" err="1">
                <a:solidFill>
                  <a:srgbClr val="FFFF00"/>
                </a:solidFill>
                <a:effectLst/>
              </a:rPr>
              <a:t>hoàng</a:t>
            </a:r>
            <a:r>
              <a:rPr lang="en-US" sz="1500" b="1" cap="all" dirty="0">
                <a:solidFill>
                  <a:srgbClr val="FFFF00"/>
                </a:solidFill>
                <a:effectLst/>
              </a:rPr>
              <a:t> kha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DC46F3C-D231-0CC4-DD35-6228C09B10DF}"/>
              </a:ext>
            </a:extLst>
          </p:cNvPr>
          <p:cNvSpPr txBox="1"/>
          <p:nvPr/>
        </p:nvSpPr>
        <p:spPr>
          <a:xfrm>
            <a:off x="554322" y="4658104"/>
            <a:ext cx="240833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 err="1">
                <a:solidFill>
                  <a:srgbClr val="00B0F0"/>
                </a:solidFill>
              </a:rPr>
              <a:t>Giảng</a:t>
            </a:r>
            <a:r>
              <a:rPr lang="en-US" sz="1500" dirty="0">
                <a:solidFill>
                  <a:srgbClr val="00B0F0"/>
                </a:solidFill>
              </a:rPr>
              <a:t> </a:t>
            </a:r>
            <a:r>
              <a:rPr lang="en-US" sz="1500" dirty="0" err="1">
                <a:solidFill>
                  <a:srgbClr val="00B0F0"/>
                </a:solidFill>
              </a:rPr>
              <a:t>viên</a:t>
            </a:r>
            <a:r>
              <a:rPr lang="en-US" sz="1500" dirty="0">
                <a:solidFill>
                  <a:srgbClr val="00B0F0"/>
                </a:solidFill>
              </a:rPr>
              <a:t> </a:t>
            </a:r>
            <a:r>
              <a:rPr lang="en-US" sz="1500" dirty="0" err="1">
                <a:solidFill>
                  <a:srgbClr val="00B0F0"/>
                </a:solidFill>
              </a:rPr>
              <a:t>hướng</a:t>
            </a:r>
            <a:r>
              <a:rPr lang="en-US" sz="1500" dirty="0">
                <a:solidFill>
                  <a:srgbClr val="00B0F0"/>
                </a:solidFill>
              </a:rPr>
              <a:t> </a:t>
            </a:r>
            <a:r>
              <a:rPr lang="en-US" sz="1500" dirty="0" err="1">
                <a:solidFill>
                  <a:srgbClr val="00B0F0"/>
                </a:solidFill>
              </a:rPr>
              <a:t>dẫn</a:t>
            </a:r>
            <a:endParaRPr lang="en-US" sz="1500" dirty="0">
              <a:solidFill>
                <a:srgbClr val="00B0F0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1A2C672-444E-6B32-8B50-4793E4F849F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4276"/>
          <a:stretch>
            <a:fillRect/>
          </a:stretch>
        </p:blipFill>
        <p:spPr>
          <a:xfrm>
            <a:off x="137690" y="176585"/>
            <a:ext cx="613642" cy="48200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BAED75E-A1B8-3D9D-4D02-9365D327C7CE}"/>
              </a:ext>
            </a:extLst>
          </p:cNvPr>
          <p:cNvSpPr txBox="1"/>
          <p:nvPr/>
        </p:nvSpPr>
        <p:spPr>
          <a:xfrm>
            <a:off x="751332" y="4173356"/>
            <a:ext cx="367935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n-US" sz="1500" b="1" cap="all" dirty="0">
                <a:solidFill>
                  <a:srgbClr val="FFFF00"/>
                </a:solidFill>
                <a:effectLst/>
              </a:rPr>
              <a:t>Trần </a:t>
            </a:r>
            <a:r>
              <a:rPr lang="en-US" sz="1500" b="1" cap="all" dirty="0" err="1">
                <a:solidFill>
                  <a:srgbClr val="FFFF00"/>
                </a:solidFill>
                <a:effectLst/>
              </a:rPr>
              <a:t>tấn</a:t>
            </a:r>
            <a:r>
              <a:rPr lang="en-US" sz="1500" b="1" cap="all" dirty="0">
                <a:solidFill>
                  <a:srgbClr val="FFFF00"/>
                </a:solidFill>
                <a:effectLst/>
              </a:rPr>
              <a:t> </a:t>
            </a:r>
            <a:r>
              <a:rPr lang="en-US" sz="1500" b="1" cap="all" dirty="0" err="1">
                <a:solidFill>
                  <a:srgbClr val="FFFF00"/>
                </a:solidFill>
                <a:effectLst/>
              </a:rPr>
              <a:t>tài</a:t>
            </a:r>
            <a:r>
              <a:rPr lang="en-US" sz="1500" b="1" cap="all" dirty="0">
                <a:solidFill>
                  <a:srgbClr val="FFFF00"/>
                </a:solidFill>
                <a:effectLst/>
              </a:rPr>
              <a:t> MSSV: 25410296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B2C5D6-BC7B-F3E4-C93D-015AA1BE7464}"/>
              </a:ext>
            </a:extLst>
          </p:cNvPr>
          <p:cNvSpPr txBox="1"/>
          <p:nvPr/>
        </p:nvSpPr>
        <p:spPr>
          <a:xfrm>
            <a:off x="554322" y="3850192"/>
            <a:ext cx="240833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rgbClr val="00B0F0"/>
                </a:solidFill>
              </a:rPr>
              <a:t>Thành </a:t>
            </a:r>
            <a:r>
              <a:rPr lang="en-US" sz="1500" dirty="0" err="1">
                <a:solidFill>
                  <a:srgbClr val="00B0F0"/>
                </a:solidFill>
              </a:rPr>
              <a:t>viên</a:t>
            </a:r>
            <a:r>
              <a:rPr lang="en-US" sz="1500" dirty="0">
                <a:solidFill>
                  <a:srgbClr val="00B0F0"/>
                </a:solidFill>
              </a:rPr>
              <a:t> </a:t>
            </a:r>
            <a:r>
              <a:rPr lang="en-US" sz="1500" dirty="0" err="1">
                <a:solidFill>
                  <a:srgbClr val="00B0F0"/>
                </a:solidFill>
              </a:rPr>
              <a:t>thực</a:t>
            </a:r>
            <a:r>
              <a:rPr lang="en-US" sz="1500" dirty="0">
                <a:solidFill>
                  <a:srgbClr val="00B0F0"/>
                </a:solidFill>
              </a:rPr>
              <a:t> </a:t>
            </a:r>
            <a:r>
              <a:rPr lang="en-US" sz="1500" dirty="0" err="1">
                <a:solidFill>
                  <a:srgbClr val="00B0F0"/>
                </a:solidFill>
              </a:rPr>
              <a:t>hiện</a:t>
            </a:r>
            <a:endParaRPr lang="en-US" sz="1500" dirty="0">
              <a:solidFill>
                <a:srgbClr val="00B0F0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060F6DB-C801-9877-03FB-9DFEA1BC85D7}"/>
              </a:ext>
            </a:extLst>
          </p:cNvPr>
          <p:cNvSpPr>
            <a:spLocks noGrp="1"/>
          </p:cNvSpPr>
          <p:nvPr/>
        </p:nvSpPr>
        <p:spPr>
          <a:xfrm>
            <a:off x="5934075" y="6381749"/>
            <a:ext cx="3238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 lnSpcReduction="10000"/>
          </a:bodyPr>
          <a:lstStyle/>
          <a:p>
            <a:pPr algn="ctr">
              <a:defRPr sz="900" b="1">
                <a:solidFill>
                  <a:srgbClr val="C5CDED"/>
                </a:solidFill>
                <a:latin typeface="Arial"/>
                <a:ea typeface="Arial"/>
                <a:cs typeface="Arial"/>
              </a:defRPr>
            </a:pPr>
            <a:r>
              <a:rPr lang="en-US" sz="900" b="1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01</a:t>
            </a:r>
            <a:endParaRPr sz="900" b="1" dirty="0">
              <a:solidFill>
                <a:srgbClr val="C5CDED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28156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7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>
            <a:extLst>
              <a:ext uri="{FF2B5EF4-FFF2-40B4-BE49-F238E27FC236}">
                <a16:creationId xmlns:a16="http://schemas.microsoft.com/office/drawing/2014/main" id="{163DF349-CDE9-6ECB-3872-2BAA50848F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A447666-6134-48DB-AEAF-677FF7771344}"/>
              </a:ext>
            </a:extLst>
          </p:cNvPr>
          <p:cNvSpPr>
            <a:spLocks noGrp="1"/>
          </p:cNvSpPr>
          <p:nvPr/>
        </p:nvSpPr>
        <p:spPr>
          <a:xfrm>
            <a:off x="495300" y="838200"/>
            <a:ext cx="685800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25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TỔNG QUAN VỀ ĐỀ TÀI</a:t>
            </a:r>
            <a:endParaRPr sz="255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27517B-9235-4D97-9088-EC5E96C215E5}"/>
              </a:ext>
            </a:extLst>
          </p:cNvPr>
          <p:cNvSpPr>
            <a:spLocks noGrp="1"/>
          </p:cNvSpPr>
          <p:nvPr/>
        </p:nvSpPr>
        <p:spPr>
          <a:xfrm>
            <a:off x="514350" y="1381125"/>
            <a:ext cx="6762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C5CDED"/>
                </a:solidFill>
                <a:latin typeface="Arial"/>
                <a:ea typeface="Arial"/>
                <a:cs typeface="Arial"/>
              </a:defRPr>
            </a:pPr>
            <a:r>
              <a:rPr lang="en-US" sz="120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Tiếp</a:t>
            </a:r>
            <a:r>
              <a:rPr lang="en-US" sz="120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20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nhận</a:t>
            </a:r>
            <a:r>
              <a:rPr lang="en-US" sz="120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20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cảnh</a:t>
            </a:r>
            <a:r>
              <a:rPr lang="en-US" sz="120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20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báo</a:t>
            </a:r>
            <a:r>
              <a:rPr lang="en-US" sz="120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20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từ</a:t>
            </a:r>
            <a:r>
              <a:rPr lang="en-US" sz="120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20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hệ</a:t>
            </a:r>
            <a:r>
              <a:rPr lang="en-US" sz="120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20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thống</a:t>
            </a:r>
            <a:r>
              <a:rPr lang="en-US" sz="120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20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Wazuh</a:t>
            </a:r>
            <a:r>
              <a:rPr lang="en-US" sz="120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, </a:t>
            </a:r>
            <a:r>
              <a:rPr lang="en-US" sz="120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phân</a:t>
            </a:r>
            <a:r>
              <a:rPr lang="en-US" sz="120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20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tích</a:t>
            </a:r>
            <a:r>
              <a:rPr lang="en-US" sz="120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, </a:t>
            </a:r>
            <a:r>
              <a:rPr lang="en-US" sz="120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chuyển</a:t>
            </a:r>
            <a:r>
              <a:rPr lang="en-US" sz="120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20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tiếp</a:t>
            </a:r>
            <a:r>
              <a:rPr lang="en-US" sz="120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, </a:t>
            </a:r>
            <a:r>
              <a:rPr lang="en-US" sz="120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ghi</a:t>
            </a:r>
            <a:r>
              <a:rPr lang="en-US" sz="120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20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nhận</a:t>
            </a:r>
            <a:r>
              <a:rPr lang="en-US" sz="120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20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các</a:t>
            </a:r>
            <a:r>
              <a:rPr lang="en-US" sz="120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20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cảnh</a:t>
            </a:r>
            <a:r>
              <a:rPr lang="en-US" sz="120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20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báo</a:t>
            </a:r>
            <a:r>
              <a:rPr lang="en-US" sz="120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20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nhạy</a:t>
            </a:r>
            <a:r>
              <a:rPr lang="en-US" sz="120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20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cảm</a:t>
            </a:r>
            <a:endParaRPr sz="1200" b="0" dirty="0">
              <a:solidFill>
                <a:srgbClr val="C5CDE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8084810C-E830-4FCA-866D-723CB98DD2ED}"/>
              </a:ext>
            </a:extLst>
          </p:cNvPr>
          <p:cNvSpPr>
            <a:spLocks noGrp="1"/>
          </p:cNvSpPr>
          <p:nvPr/>
        </p:nvSpPr>
        <p:spPr>
          <a:xfrm>
            <a:off x="495300" y="1847850"/>
            <a:ext cx="6762750" cy="0"/>
          </a:xfrm>
          <a:prstGeom prst="line">
            <a:avLst/>
          </a:prstGeom>
          <a:noFill/>
          <a:ln w="19050">
            <a:solidFill>
              <a:srgbClr val="5973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BE63F3-5A6A-47A6-BA69-270C960A1946}"/>
              </a:ext>
            </a:extLst>
          </p:cNvPr>
          <p:cNvSpPr>
            <a:spLocks noGrp="1"/>
          </p:cNvSpPr>
          <p:nvPr/>
        </p:nvSpPr>
        <p:spPr>
          <a:xfrm>
            <a:off x="5934075" y="6381749"/>
            <a:ext cx="3238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 lnSpcReduction="10000"/>
          </a:bodyPr>
          <a:lstStyle/>
          <a:p>
            <a:pPr algn="ctr">
              <a:defRPr sz="900" b="1">
                <a:solidFill>
                  <a:srgbClr val="C5CDED"/>
                </a:solidFill>
                <a:latin typeface="Arial"/>
                <a:ea typeface="Arial"/>
                <a:cs typeface="Arial"/>
              </a:defRPr>
            </a:pPr>
            <a:r>
              <a:rPr lang="en-US" sz="900" b="1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02</a:t>
            </a:r>
            <a:endParaRPr sz="900" b="1" dirty="0">
              <a:solidFill>
                <a:srgbClr val="C5CDE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ECF5416-521A-4178-8579-48D4382C5E72}"/>
              </a:ext>
            </a:extLst>
          </p:cNvPr>
          <p:cNvSpPr>
            <a:spLocks noGrp="1"/>
          </p:cNvSpPr>
          <p:nvPr/>
        </p:nvSpPr>
        <p:spPr>
          <a:xfrm>
            <a:off x="523875" y="2143125"/>
            <a:ext cx="3333750" cy="1476375"/>
          </a:xfrm>
          <a:prstGeom prst="roundRect">
            <a:avLst>
              <a:gd name="adj" fmla="val 9677"/>
            </a:avLst>
          </a:prstGeom>
          <a:solidFill>
            <a:srgbClr val="101A42"/>
          </a:solidFill>
          <a:ln w="9525">
            <a:solidFill>
              <a:srgbClr val="2E43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A018CE-DE34-4AAE-AD49-2E4CD7B56AEF}"/>
              </a:ext>
            </a:extLst>
          </p:cNvPr>
          <p:cNvSpPr>
            <a:spLocks noGrp="1"/>
          </p:cNvSpPr>
          <p:nvPr/>
        </p:nvSpPr>
        <p:spPr>
          <a:xfrm>
            <a:off x="523875" y="2143125"/>
            <a:ext cx="66675" cy="1476375"/>
          </a:xfrm>
          <a:prstGeom prst="rect">
            <a:avLst/>
          </a:prstGeom>
          <a:solidFill>
            <a:srgbClr val="28A8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0B1DDCF-F65B-40B1-9E15-3C75FECE2B97}"/>
              </a:ext>
            </a:extLst>
          </p:cNvPr>
          <p:cNvSpPr>
            <a:spLocks noGrp="1"/>
          </p:cNvSpPr>
          <p:nvPr/>
        </p:nvSpPr>
        <p:spPr>
          <a:xfrm>
            <a:off x="695325" y="2295525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28A8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3AC670-CC83-4D7A-B1F4-97DD2A2F5B91}"/>
              </a:ext>
            </a:extLst>
          </p:cNvPr>
          <p:cNvSpPr>
            <a:spLocks noGrp="1"/>
          </p:cNvSpPr>
          <p:nvPr/>
        </p:nvSpPr>
        <p:spPr>
          <a:xfrm>
            <a:off x="695325" y="2295525"/>
            <a:ext cx="4000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B0DF76-02BC-421C-91C2-024FD41D2A32}"/>
              </a:ext>
            </a:extLst>
          </p:cNvPr>
          <p:cNvSpPr>
            <a:spLocks noGrp="1"/>
          </p:cNvSpPr>
          <p:nvPr/>
        </p:nvSpPr>
        <p:spPr>
          <a:xfrm>
            <a:off x="1247775" y="2238375"/>
            <a:ext cx="2476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12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Tiếp</a:t>
            </a: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nhận</a:t>
            </a: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cảnh</a:t>
            </a: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báo</a:t>
            </a:r>
            <a:endParaRPr sz="12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3B9C29-687D-46E2-9A4B-FE4B5ADA3FDC}"/>
              </a:ext>
            </a:extLst>
          </p:cNvPr>
          <p:cNvSpPr>
            <a:spLocks noGrp="1"/>
          </p:cNvSpPr>
          <p:nvPr/>
        </p:nvSpPr>
        <p:spPr>
          <a:xfrm>
            <a:off x="1247775" y="2619375"/>
            <a:ext cx="2438400" cy="923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marL="171450" indent="-171450" algn="l">
              <a:buFontTx/>
              <a:buChar char="-"/>
              <a:defRPr sz="1050" b="0">
                <a:solidFill>
                  <a:srgbClr val="C5CDED"/>
                </a:solidFill>
                <a:latin typeface="Arial"/>
                <a:ea typeface="Arial"/>
                <a:cs typeface="Arial"/>
              </a:defRPr>
            </a:pPr>
            <a:r>
              <a:rPr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Wazuh</a:t>
            </a: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nhận</a:t>
            </a: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sự</a:t>
            </a: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kiện</a:t>
            </a: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liên</a:t>
            </a: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tục</a:t>
            </a: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từ</a:t>
            </a: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agent, server </a:t>
            </a:r>
            <a:r>
              <a:rPr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và</a:t>
            </a: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dịch</a:t>
            </a: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vụ</a:t>
            </a: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.</a:t>
            </a:r>
            <a:endParaRPr lang="en-US" sz="1050" b="0" dirty="0">
              <a:solidFill>
                <a:srgbClr val="C5CDED"/>
              </a:solidFill>
              <a:latin typeface="Arial"/>
              <a:ea typeface="Arial"/>
              <a:cs typeface="Arial"/>
            </a:endParaRPr>
          </a:p>
          <a:p>
            <a:pPr marL="171450" indent="-171450" algn="l">
              <a:buFontTx/>
              <a:buChar char="-"/>
              <a:defRPr sz="1050" b="0">
                <a:solidFill>
                  <a:srgbClr val="C5CDED"/>
                </a:solidFill>
                <a:latin typeface="Arial"/>
                <a:ea typeface="Arial"/>
                <a:cs typeface="Arial"/>
              </a:defRPr>
            </a:pPr>
            <a:r>
              <a:rPr lang="en-US" sz="105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Các </a:t>
            </a:r>
            <a:r>
              <a:rPr lang="en-US" sz="105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sự</a:t>
            </a:r>
            <a:r>
              <a:rPr lang="en-US" sz="105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kiện</a:t>
            </a:r>
            <a:r>
              <a:rPr lang="en-US" sz="105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được</a:t>
            </a:r>
            <a:r>
              <a:rPr lang="en-US" sz="105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hiển</a:t>
            </a:r>
            <a:r>
              <a:rPr lang="en-US" sz="105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thị</a:t>
            </a:r>
            <a:r>
              <a:rPr lang="en-US" sz="105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trên</a:t>
            </a:r>
            <a:r>
              <a:rPr lang="en-US" sz="105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giao</a:t>
            </a:r>
            <a:r>
              <a:rPr lang="en-US" sz="105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diện</a:t>
            </a:r>
            <a:r>
              <a:rPr lang="en-US" sz="105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chung</a:t>
            </a:r>
            <a:r>
              <a:rPr lang="en-US" sz="105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của</a:t>
            </a:r>
            <a:r>
              <a:rPr lang="en-US" sz="105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Wazuh</a:t>
            </a:r>
            <a:endParaRPr sz="1050" b="0" dirty="0">
              <a:solidFill>
                <a:srgbClr val="C5CDE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AD35715-4BB2-4F9B-B3BB-B16296B800D2}"/>
              </a:ext>
            </a:extLst>
          </p:cNvPr>
          <p:cNvSpPr>
            <a:spLocks noGrp="1"/>
          </p:cNvSpPr>
          <p:nvPr/>
        </p:nvSpPr>
        <p:spPr>
          <a:xfrm>
            <a:off x="4095750" y="2143125"/>
            <a:ext cx="3333750" cy="1476375"/>
          </a:xfrm>
          <a:prstGeom prst="roundRect">
            <a:avLst>
              <a:gd name="adj" fmla="val 9677"/>
            </a:avLst>
          </a:prstGeom>
          <a:solidFill>
            <a:srgbClr val="101A42"/>
          </a:solidFill>
          <a:ln w="9525">
            <a:solidFill>
              <a:srgbClr val="2E438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D273FD-A18B-4C7A-A886-00B69FDE3D4F}"/>
              </a:ext>
            </a:extLst>
          </p:cNvPr>
          <p:cNvSpPr>
            <a:spLocks noGrp="1"/>
          </p:cNvSpPr>
          <p:nvPr/>
        </p:nvSpPr>
        <p:spPr>
          <a:xfrm>
            <a:off x="4095750" y="2143125"/>
            <a:ext cx="66675" cy="1476375"/>
          </a:xfrm>
          <a:prstGeom prst="rect">
            <a:avLst/>
          </a:prstGeom>
          <a:solidFill>
            <a:srgbClr val="B99A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C73ECBB-CF7F-4CBC-9587-19CDA3F2739B}"/>
              </a:ext>
            </a:extLst>
          </p:cNvPr>
          <p:cNvSpPr>
            <a:spLocks noGrp="1"/>
          </p:cNvSpPr>
          <p:nvPr/>
        </p:nvSpPr>
        <p:spPr>
          <a:xfrm>
            <a:off x="4267200" y="2295525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B99A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F8674E3-F3EA-45F1-8720-BD831A1C01E8}"/>
              </a:ext>
            </a:extLst>
          </p:cNvPr>
          <p:cNvSpPr>
            <a:spLocks noGrp="1"/>
          </p:cNvSpPr>
          <p:nvPr/>
        </p:nvSpPr>
        <p:spPr>
          <a:xfrm>
            <a:off x="4267200" y="2295525"/>
            <a:ext cx="4000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FFDE3C8-1EF7-4D93-B724-39F5C451FB20}"/>
              </a:ext>
            </a:extLst>
          </p:cNvPr>
          <p:cNvSpPr>
            <a:spLocks noGrp="1"/>
          </p:cNvSpPr>
          <p:nvPr/>
        </p:nvSpPr>
        <p:spPr>
          <a:xfrm>
            <a:off x="4819650" y="2238375"/>
            <a:ext cx="2476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12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Phân</a:t>
            </a: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tích</a:t>
            </a: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cảnh</a:t>
            </a: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báo</a:t>
            </a:r>
            <a:endParaRPr sz="12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F173E4F-0A60-41B2-8B38-10FB7E893391}"/>
              </a:ext>
            </a:extLst>
          </p:cNvPr>
          <p:cNvSpPr>
            <a:spLocks noGrp="1"/>
          </p:cNvSpPr>
          <p:nvPr/>
        </p:nvSpPr>
        <p:spPr>
          <a:xfrm>
            <a:off x="4819650" y="2619375"/>
            <a:ext cx="2438400" cy="923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marL="171450" indent="-171450" algn="l">
              <a:buFontTx/>
              <a:buChar char="-"/>
              <a:defRPr sz="1050" b="0">
                <a:solidFill>
                  <a:srgbClr val="C5CDED"/>
                </a:solidFill>
                <a:latin typeface="Arial"/>
                <a:ea typeface="Arial"/>
                <a:cs typeface="Arial"/>
              </a:defRPr>
            </a:pPr>
            <a:r>
              <a:rPr lang="en-US"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Có</a:t>
            </a:r>
            <a:r>
              <a:rPr lang="en-US"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rất</a:t>
            </a:r>
            <a:r>
              <a:rPr lang="en-US"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nhiều</a:t>
            </a:r>
            <a:r>
              <a:rPr lang="en-US"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log </a:t>
            </a:r>
            <a:r>
              <a:rPr lang="en-US"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được</a:t>
            </a:r>
            <a:r>
              <a:rPr lang="en-US"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trả</a:t>
            </a:r>
            <a:r>
              <a:rPr lang="en-US"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về</a:t>
            </a:r>
            <a:r>
              <a:rPr lang="en-US"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từ</a:t>
            </a:r>
            <a:r>
              <a:rPr lang="en-US"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agent</a:t>
            </a:r>
          </a:p>
          <a:p>
            <a:pPr marL="171450" indent="-171450" algn="l">
              <a:buFontTx/>
              <a:buChar char="-"/>
              <a:defRPr sz="1050" b="0">
                <a:solidFill>
                  <a:srgbClr val="C5CDED"/>
                </a:solidFill>
                <a:latin typeface="Arial"/>
                <a:ea typeface="Arial"/>
                <a:cs typeface="Arial"/>
              </a:defRPr>
            </a:pPr>
            <a:r>
              <a:rPr lang="en-US"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Dựa</a:t>
            </a:r>
            <a:r>
              <a:rPr lang="en-US"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vào</a:t>
            </a:r>
            <a:r>
              <a:rPr lang="en-US"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điều</a:t>
            </a:r>
            <a:r>
              <a:rPr lang="en-US"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kiện</a:t>
            </a:r>
            <a:r>
              <a:rPr lang="en-US"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để</a:t>
            </a:r>
            <a:r>
              <a:rPr lang="en-US"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trích</a:t>
            </a:r>
            <a:r>
              <a:rPr lang="en-US"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lọc</a:t>
            </a:r>
            <a:r>
              <a:rPr lang="en-US"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ra</a:t>
            </a:r>
            <a:r>
              <a:rPr lang="en-US"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các</a:t>
            </a:r>
            <a:r>
              <a:rPr lang="en-US"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cảnh</a:t>
            </a:r>
            <a:r>
              <a:rPr lang="en-US"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báo</a:t>
            </a:r>
            <a:r>
              <a:rPr lang="en-US"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xem</a:t>
            </a:r>
            <a:r>
              <a:rPr lang="en-US"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là</a:t>
            </a:r>
            <a:r>
              <a:rPr lang="en-US"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nghi</a:t>
            </a:r>
            <a:r>
              <a:rPr lang="en-US"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ngờ</a:t>
            </a:r>
            <a:endParaRPr lang="en-US" sz="1050" b="0" dirty="0">
              <a:solidFill>
                <a:srgbClr val="C5CDED"/>
              </a:solidFill>
              <a:latin typeface="Arial"/>
              <a:ea typeface="Arial"/>
              <a:cs typeface="Arial"/>
            </a:endParaRPr>
          </a:p>
          <a:p>
            <a:pPr marL="171450" indent="-171450" algn="l">
              <a:buFontTx/>
              <a:buChar char="-"/>
              <a:defRPr sz="1050" b="0">
                <a:solidFill>
                  <a:srgbClr val="C5CDED"/>
                </a:solidFill>
                <a:latin typeface="Arial"/>
                <a:ea typeface="Arial"/>
                <a:cs typeface="Arial"/>
              </a:defRPr>
            </a:pPr>
            <a:r>
              <a:rPr lang="en-US"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Có</a:t>
            </a:r>
            <a:r>
              <a:rPr lang="en-US"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thể</a:t>
            </a:r>
            <a:r>
              <a:rPr lang="en-US"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dựa</a:t>
            </a:r>
            <a:r>
              <a:rPr lang="en-US"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vào</a:t>
            </a:r>
            <a:r>
              <a:rPr lang="en-US"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Rule ID </a:t>
            </a:r>
            <a:r>
              <a:rPr lang="en-US"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hoặc</a:t>
            </a:r>
            <a:r>
              <a:rPr lang="en-US"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level  </a:t>
            </a:r>
            <a:endParaRPr sz="1050" b="0" dirty="0">
              <a:solidFill>
                <a:srgbClr val="C5CDE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4BDBDF9-2E41-4037-83E1-E7EEFD4B52F6}"/>
              </a:ext>
            </a:extLst>
          </p:cNvPr>
          <p:cNvSpPr>
            <a:spLocks noGrp="1"/>
          </p:cNvSpPr>
          <p:nvPr/>
        </p:nvSpPr>
        <p:spPr>
          <a:xfrm>
            <a:off x="523875" y="3857625"/>
            <a:ext cx="3333750" cy="1476375"/>
          </a:xfrm>
          <a:prstGeom prst="roundRect">
            <a:avLst>
              <a:gd name="adj" fmla="val 9677"/>
            </a:avLst>
          </a:prstGeom>
          <a:solidFill>
            <a:srgbClr val="101A42"/>
          </a:solidFill>
          <a:ln w="9525">
            <a:solidFill>
              <a:srgbClr val="2E438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484D690-B6A2-4D03-9005-4183BA93DD86}"/>
              </a:ext>
            </a:extLst>
          </p:cNvPr>
          <p:cNvSpPr>
            <a:spLocks noGrp="1"/>
          </p:cNvSpPr>
          <p:nvPr/>
        </p:nvSpPr>
        <p:spPr>
          <a:xfrm>
            <a:off x="523875" y="3857625"/>
            <a:ext cx="66675" cy="1476375"/>
          </a:xfrm>
          <a:prstGeom prst="rect">
            <a:avLst/>
          </a:prstGeom>
          <a:solidFill>
            <a:srgbClr val="FF9D42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E91DEE9-E35B-45E7-934F-163287D801E7}"/>
              </a:ext>
            </a:extLst>
          </p:cNvPr>
          <p:cNvSpPr>
            <a:spLocks noGrp="1"/>
          </p:cNvSpPr>
          <p:nvPr/>
        </p:nvSpPr>
        <p:spPr>
          <a:xfrm>
            <a:off x="695325" y="4010025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FF9D4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D7CCA6-2C91-4DB4-A67B-2E5B85831F1C}"/>
              </a:ext>
            </a:extLst>
          </p:cNvPr>
          <p:cNvSpPr>
            <a:spLocks noGrp="1"/>
          </p:cNvSpPr>
          <p:nvPr/>
        </p:nvSpPr>
        <p:spPr>
          <a:xfrm>
            <a:off x="695325" y="4010025"/>
            <a:ext cx="4000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178817-F3F1-4417-9FCA-03C4046CA372}"/>
              </a:ext>
            </a:extLst>
          </p:cNvPr>
          <p:cNvSpPr>
            <a:spLocks noGrp="1"/>
          </p:cNvSpPr>
          <p:nvPr/>
        </p:nvSpPr>
        <p:spPr>
          <a:xfrm>
            <a:off x="1247775" y="3952875"/>
            <a:ext cx="2476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12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Chuyển</a:t>
            </a: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tiếp</a:t>
            </a: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cảnh</a:t>
            </a: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báo</a:t>
            </a: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endParaRPr sz="12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8F81DEC-C0B9-4974-BF6A-FDF75D25432D}"/>
              </a:ext>
            </a:extLst>
          </p:cNvPr>
          <p:cNvSpPr>
            <a:spLocks noGrp="1"/>
          </p:cNvSpPr>
          <p:nvPr/>
        </p:nvSpPr>
        <p:spPr>
          <a:xfrm>
            <a:off x="1247775" y="4333875"/>
            <a:ext cx="2438400" cy="923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500" lnSpcReduction="10000"/>
          </a:bodyPr>
          <a:lstStyle/>
          <a:p>
            <a:pPr marL="171450" indent="-171450" algn="l">
              <a:buFontTx/>
              <a:buChar char="-"/>
              <a:defRPr sz="1050" b="0">
                <a:solidFill>
                  <a:srgbClr val="C5CDED"/>
                </a:solidFill>
                <a:latin typeface="Arial"/>
                <a:ea typeface="Arial"/>
                <a:cs typeface="Arial"/>
              </a:defRPr>
            </a:pPr>
            <a:r>
              <a:rPr lang="en-US"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Cài </a:t>
            </a:r>
            <a:r>
              <a:rPr lang="en-US"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đặt</a:t>
            </a:r>
            <a:r>
              <a:rPr lang="en-US"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các</a:t>
            </a:r>
            <a:r>
              <a:rPr lang="en-US"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kênh</a:t>
            </a:r>
            <a:r>
              <a:rPr lang="en-US"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thông</a:t>
            </a:r>
            <a:r>
              <a:rPr lang="en-US"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báo</a:t>
            </a:r>
            <a:r>
              <a:rPr lang="en-US"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qua Telegram</a:t>
            </a:r>
          </a:p>
          <a:p>
            <a:pPr marL="171450" indent="-171450" algn="l">
              <a:buFontTx/>
              <a:buChar char="-"/>
              <a:defRPr sz="1050" b="0">
                <a:solidFill>
                  <a:srgbClr val="C5CDED"/>
                </a:solidFill>
                <a:latin typeface="Arial"/>
                <a:ea typeface="Arial"/>
                <a:cs typeface="Arial"/>
              </a:defRPr>
            </a:pPr>
            <a:r>
              <a:rPr lang="en-US" sz="105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Nhận</a:t>
            </a:r>
            <a:r>
              <a:rPr lang="en-US" sz="105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các</a:t>
            </a:r>
            <a:r>
              <a:rPr lang="en-US" sz="105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log </a:t>
            </a:r>
            <a:r>
              <a:rPr lang="en-US" sz="105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đã</a:t>
            </a:r>
            <a:r>
              <a:rPr lang="en-US" sz="105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được</a:t>
            </a:r>
            <a:r>
              <a:rPr lang="en-US" sz="105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phân</a:t>
            </a:r>
            <a:r>
              <a:rPr lang="en-US" sz="105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tích</a:t>
            </a:r>
            <a:r>
              <a:rPr lang="en-US" sz="105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chuyển</a:t>
            </a:r>
            <a:r>
              <a:rPr lang="en-US" sz="105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đến</a:t>
            </a:r>
            <a:r>
              <a:rPr lang="en-US" sz="105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các</a:t>
            </a:r>
            <a:r>
              <a:rPr lang="en-US" sz="105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kênh</a:t>
            </a:r>
            <a:endParaRPr lang="en-US" sz="1050" dirty="0">
              <a:solidFill>
                <a:srgbClr val="C5CDED"/>
              </a:solidFill>
              <a:latin typeface="Arial"/>
              <a:ea typeface="Arial"/>
              <a:cs typeface="Arial"/>
            </a:endParaRPr>
          </a:p>
          <a:p>
            <a:pPr marL="171450" indent="-171450" algn="l">
              <a:buFontTx/>
              <a:buChar char="-"/>
              <a:defRPr sz="1050" b="0">
                <a:solidFill>
                  <a:srgbClr val="C5CDED"/>
                </a:solidFill>
                <a:latin typeface="Arial"/>
                <a:ea typeface="Arial"/>
                <a:cs typeface="Arial"/>
              </a:defRPr>
            </a:pPr>
            <a:r>
              <a:rPr lang="en-US"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Hệ</a:t>
            </a:r>
            <a:r>
              <a:rPr lang="en-US"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thống</a:t>
            </a:r>
            <a:r>
              <a:rPr lang="en-US"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Python </a:t>
            </a:r>
            <a:r>
              <a:rPr lang="en-US" sz="105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cũng</a:t>
            </a:r>
            <a:r>
              <a:rPr lang="en-US" sz="105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sẽ</a:t>
            </a:r>
            <a:r>
              <a:rPr lang="en-US" sz="105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cùng</a:t>
            </a:r>
            <a:r>
              <a:rPr lang="en-US" sz="105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lúc</a:t>
            </a:r>
            <a:r>
              <a:rPr lang="en-US" sz="105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nhận</a:t>
            </a:r>
            <a:r>
              <a:rPr lang="en-US" sz="105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được</a:t>
            </a:r>
            <a:r>
              <a:rPr lang="en-US" sz="105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thông</a:t>
            </a:r>
            <a:r>
              <a:rPr lang="en-US" sz="105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tin log</a:t>
            </a:r>
            <a:endParaRPr sz="1050" b="0" dirty="0">
              <a:solidFill>
                <a:srgbClr val="C5CDE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D0118FA-B139-4FF7-840A-44E93FC324EC}"/>
              </a:ext>
            </a:extLst>
          </p:cNvPr>
          <p:cNvSpPr>
            <a:spLocks noGrp="1"/>
          </p:cNvSpPr>
          <p:nvPr/>
        </p:nvSpPr>
        <p:spPr>
          <a:xfrm>
            <a:off x="4095750" y="3857625"/>
            <a:ext cx="3333750" cy="1476375"/>
          </a:xfrm>
          <a:prstGeom prst="roundRect">
            <a:avLst>
              <a:gd name="adj" fmla="val 9677"/>
            </a:avLst>
          </a:prstGeom>
          <a:solidFill>
            <a:srgbClr val="101A42"/>
          </a:solidFill>
          <a:ln w="9525">
            <a:solidFill>
              <a:srgbClr val="2E43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65DEAA7-0044-45B5-A4B2-782CBA9DC0C6}"/>
              </a:ext>
            </a:extLst>
          </p:cNvPr>
          <p:cNvSpPr>
            <a:spLocks noGrp="1"/>
          </p:cNvSpPr>
          <p:nvPr/>
        </p:nvSpPr>
        <p:spPr>
          <a:xfrm>
            <a:off x="4095750" y="3857625"/>
            <a:ext cx="66675" cy="1476375"/>
          </a:xfrm>
          <a:prstGeom prst="rect">
            <a:avLst/>
          </a:prstGeom>
          <a:solidFill>
            <a:srgbClr val="42D6A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A0CB727-983A-4C91-A7C6-6CC81339D628}"/>
              </a:ext>
            </a:extLst>
          </p:cNvPr>
          <p:cNvSpPr>
            <a:spLocks noGrp="1"/>
          </p:cNvSpPr>
          <p:nvPr/>
        </p:nvSpPr>
        <p:spPr>
          <a:xfrm>
            <a:off x="4267200" y="4010025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42D6A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0955748-5222-4107-82A1-2BF59058E766}"/>
              </a:ext>
            </a:extLst>
          </p:cNvPr>
          <p:cNvSpPr>
            <a:spLocks noGrp="1"/>
          </p:cNvSpPr>
          <p:nvPr/>
        </p:nvSpPr>
        <p:spPr>
          <a:xfrm>
            <a:off x="4267200" y="4010025"/>
            <a:ext cx="4000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71B9546-2F20-45C3-8388-9F962B870B25}"/>
              </a:ext>
            </a:extLst>
          </p:cNvPr>
          <p:cNvSpPr>
            <a:spLocks noGrp="1"/>
          </p:cNvSpPr>
          <p:nvPr/>
        </p:nvSpPr>
        <p:spPr>
          <a:xfrm>
            <a:off x="4819650" y="3952875"/>
            <a:ext cx="2476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12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Ghi</a:t>
            </a: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nhận</a:t>
            </a: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cảnh</a:t>
            </a: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báo</a:t>
            </a:r>
            <a:endParaRPr sz="12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A9777F2-41B2-44ED-92CD-3B72070CD45F}"/>
              </a:ext>
            </a:extLst>
          </p:cNvPr>
          <p:cNvSpPr>
            <a:spLocks noGrp="1"/>
          </p:cNvSpPr>
          <p:nvPr/>
        </p:nvSpPr>
        <p:spPr>
          <a:xfrm>
            <a:off x="4819650" y="4333875"/>
            <a:ext cx="2438400" cy="923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500"/>
          </a:bodyPr>
          <a:lstStyle/>
          <a:p>
            <a:pPr marL="171450" indent="-171450" algn="l">
              <a:buFontTx/>
              <a:buChar char="-"/>
              <a:defRPr sz="1050" b="0">
                <a:solidFill>
                  <a:srgbClr val="C5CDED"/>
                </a:solidFill>
                <a:latin typeface="Arial"/>
                <a:ea typeface="Arial"/>
                <a:cs typeface="Arial"/>
              </a:defRPr>
            </a:pPr>
            <a:r>
              <a:rPr lang="en-US"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Hệ</a:t>
            </a:r>
            <a:r>
              <a:rPr lang="en-US"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thống</a:t>
            </a:r>
            <a:r>
              <a:rPr lang="en-US"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P</a:t>
            </a:r>
            <a:r>
              <a:rPr lang="en-US"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ythom</a:t>
            </a:r>
            <a:r>
              <a:rPr lang="en-US"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monitor </a:t>
            </a:r>
            <a:r>
              <a:rPr lang="en-US"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sẽ</a:t>
            </a:r>
            <a:r>
              <a:rPr lang="en-US"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nhận</a:t>
            </a:r>
            <a:r>
              <a:rPr lang="en-US"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và</a:t>
            </a:r>
            <a:r>
              <a:rPr lang="en-US"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xử</a:t>
            </a:r>
            <a:r>
              <a:rPr lang="en-US"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lí</a:t>
            </a:r>
            <a:r>
              <a:rPr lang="en-US"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tổng</a:t>
            </a:r>
            <a:r>
              <a:rPr lang="en-US"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hợp</a:t>
            </a:r>
            <a:r>
              <a:rPr lang="en-US"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các</a:t>
            </a:r>
            <a:r>
              <a:rPr lang="en-US"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log</a:t>
            </a:r>
          </a:p>
          <a:p>
            <a:pPr marL="171450" indent="-171450" algn="l">
              <a:buFontTx/>
              <a:buChar char="-"/>
              <a:defRPr sz="1050" b="0">
                <a:solidFill>
                  <a:srgbClr val="C5CDED"/>
                </a:solidFill>
                <a:latin typeface="Arial"/>
                <a:ea typeface="Arial"/>
                <a:cs typeface="Arial"/>
              </a:defRPr>
            </a:pPr>
            <a:r>
              <a:rPr lang="en-US" sz="105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Ghi</a:t>
            </a:r>
            <a:r>
              <a:rPr lang="en-US" sz="105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nhận</a:t>
            </a:r>
            <a:r>
              <a:rPr lang="en-US" sz="105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các</a:t>
            </a:r>
            <a:r>
              <a:rPr lang="en-US" sz="105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log </a:t>
            </a:r>
            <a:r>
              <a:rPr lang="en-US" sz="105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lưu</a:t>
            </a:r>
            <a:r>
              <a:rPr lang="en-US" sz="105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vào</a:t>
            </a:r>
            <a:r>
              <a:rPr lang="en-US" sz="105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Database</a:t>
            </a:r>
          </a:p>
          <a:p>
            <a:pPr marL="171450" indent="-171450" algn="l">
              <a:buFontTx/>
              <a:buChar char="-"/>
              <a:defRPr sz="1050" b="0">
                <a:solidFill>
                  <a:srgbClr val="C5CDED"/>
                </a:solidFill>
                <a:latin typeface="Arial"/>
                <a:ea typeface="Arial"/>
                <a:cs typeface="Arial"/>
              </a:defRPr>
            </a:pPr>
            <a:r>
              <a:rPr lang="en-US"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Hiển </a:t>
            </a:r>
            <a:r>
              <a:rPr lang="en-US"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th</a:t>
            </a:r>
            <a:r>
              <a:rPr lang="en-US" sz="105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ị</a:t>
            </a:r>
            <a:r>
              <a:rPr lang="en-US" sz="105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biểu</a:t>
            </a:r>
            <a:r>
              <a:rPr lang="en-US" sz="105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đồ</a:t>
            </a:r>
            <a:r>
              <a:rPr lang="en-US" sz="105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thống</a:t>
            </a:r>
            <a:r>
              <a:rPr lang="en-US" sz="105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kê</a:t>
            </a:r>
            <a:r>
              <a:rPr lang="en-US" sz="105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trực</a:t>
            </a:r>
            <a:r>
              <a:rPr lang="en-US" sz="105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quan</a:t>
            </a:r>
            <a:endParaRPr sz="1050" b="0" dirty="0">
              <a:solidFill>
                <a:srgbClr val="C5CDE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C96C3EA-45AA-BDC3-F3F7-54C9F52F9033}"/>
              </a:ext>
            </a:extLst>
          </p:cNvPr>
          <p:cNvSpPr txBox="1"/>
          <p:nvPr/>
        </p:nvSpPr>
        <p:spPr>
          <a:xfrm>
            <a:off x="10251948" y="0"/>
            <a:ext cx="19400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IE221.F33.LT.CNTT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0E14AC7C-E8E5-CDE3-395D-C2EB97534EC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4276"/>
          <a:stretch>
            <a:fillRect/>
          </a:stretch>
        </p:blipFill>
        <p:spPr>
          <a:xfrm>
            <a:off x="137690" y="176585"/>
            <a:ext cx="613642" cy="482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229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7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>
            <a:extLst>
              <a:ext uri="{FF2B5EF4-FFF2-40B4-BE49-F238E27FC236}">
                <a16:creationId xmlns:a16="http://schemas.microsoft.com/office/drawing/2014/main" id="{0F3E97BD-574C-EE6F-FB18-D1FA7DAC32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941F5A7-0F31-4B80-9F4F-E8F8B518B7C9}"/>
              </a:ext>
            </a:extLst>
          </p:cNvPr>
          <p:cNvSpPr>
            <a:spLocks noGrp="1"/>
          </p:cNvSpPr>
          <p:nvPr/>
        </p:nvSpPr>
        <p:spPr>
          <a:xfrm>
            <a:off x="495300" y="838200"/>
            <a:ext cx="685800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Mục</a:t>
            </a:r>
            <a:r>
              <a:rPr sz="25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tiêu</a:t>
            </a:r>
            <a:r>
              <a:rPr sz="25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55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hệ</a:t>
            </a:r>
            <a:r>
              <a:rPr lang="en-US" sz="25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55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thống</a:t>
            </a:r>
            <a:endParaRPr sz="255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CE6F45-FF6C-4323-9C85-02D2F9771FE5}"/>
              </a:ext>
            </a:extLst>
          </p:cNvPr>
          <p:cNvSpPr>
            <a:spLocks noGrp="1"/>
          </p:cNvSpPr>
          <p:nvPr/>
        </p:nvSpPr>
        <p:spPr>
          <a:xfrm>
            <a:off x="514350" y="1381125"/>
            <a:ext cx="6762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C5CDED"/>
                </a:solidFill>
                <a:latin typeface="Arial"/>
                <a:ea typeface="Arial"/>
                <a:cs typeface="Arial"/>
              </a:defRPr>
            </a:pPr>
            <a:r>
              <a:rPr sz="120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Các </a:t>
            </a:r>
            <a:r>
              <a:rPr sz="120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mục</a:t>
            </a:r>
            <a:r>
              <a:rPr sz="120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tiêu</a:t>
            </a:r>
            <a:r>
              <a:rPr sz="120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chính</a:t>
            </a:r>
            <a:r>
              <a:rPr sz="120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của</a:t>
            </a:r>
            <a:r>
              <a:rPr sz="120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giải</a:t>
            </a:r>
            <a:r>
              <a:rPr sz="120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pháp</a:t>
            </a:r>
            <a:endParaRPr sz="1200" b="0" dirty="0">
              <a:solidFill>
                <a:srgbClr val="C5CDE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47654671-E98B-429D-9A21-6E06AF0705CA}"/>
              </a:ext>
            </a:extLst>
          </p:cNvPr>
          <p:cNvSpPr>
            <a:spLocks noGrp="1"/>
          </p:cNvSpPr>
          <p:nvPr/>
        </p:nvSpPr>
        <p:spPr>
          <a:xfrm>
            <a:off x="495300" y="1847850"/>
            <a:ext cx="6762750" cy="0"/>
          </a:xfrm>
          <a:prstGeom prst="line">
            <a:avLst/>
          </a:prstGeom>
          <a:noFill/>
          <a:ln w="19050">
            <a:solidFill>
              <a:srgbClr val="5973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87C880-CAE8-4F67-880C-04EB1CD0BA0F}"/>
              </a:ext>
            </a:extLst>
          </p:cNvPr>
          <p:cNvSpPr>
            <a:spLocks noGrp="1"/>
          </p:cNvSpPr>
          <p:nvPr/>
        </p:nvSpPr>
        <p:spPr>
          <a:xfrm>
            <a:off x="6096000" y="6202299"/>
            <a:ext cx="3238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 lnSpcReduction="10000"/>
          </a:bodyPr>
          <a:lstStyle/>
          <a:p>
            <a:pPr algn="r">
              <a:defRPr sz="900" b="1">
                <a:solidFill>
                  <a:srgbClr val="C5CDED"/>
                </a:solidFill>
                <a:latin typeface="Arial"/>
                <a:ea typeface="Arial"/>
                <a:cs typeface="Arial"/>
              </a:defRPr>
            </a:pPr>
            <a:r>
              <a:rPr sz="900" b="1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C32916A-2E78-4B50-B538-DF3E4CAB2C07}"/>
              </a:ext>
            </a:extLst>
          </p:cNvPr>
          <p:cNvSpPr>
            <a:spLocks noGrp="1"/>
          </p:cNvSpPr>
          <p:nvPr/>
        </p:nvSpPr>
        <p:spPr>
          <a:xfrm>
            <a:off x="666750" y="2095500"/>
            <a:ext cx="6572250" cy="742950"/>
          </a:xfrm>
          <a:prstGeom prst="roundRect">
            <a:avLst>
              <a:gd name="adj" fmla="val 19231"/>
            </a:avLst>
          </a:prstGeom>
          <a:solidFill>
            <a:srgbClr val="101A42"/>
          </a:solidFill>
          <a:ln w="9525">
            <a:solidFill>
              <a:srgbClr val="2E43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1A00A9-B560-46C5-928B-DE923EEA042E}"/>
              </a:ext>
            </a:extLst>
          </p:cNvPr>
          <p:cNvSpPr>
            <a:spLocks noGrp="1"/>
          </p:cNvSpPr>
          <p:nvPr/>
        </p:nvSpPr>
        <p:spPr>
          <a:xfrm>
            <a:off x="666750" y="2095500"/>
            <a:ext cx="66675" cy="742950"/>
          </a:xfrm>
          <a:prstGeom prst="rect">
            <a:avLst/>
          </a:prstGeom>
          <a:solidFill>
            <a:srgbClr val="28A8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A0EC6BF-7859-4714-92EE-B3B5A57C1C77}"/>
              </a:ext>
            </a:extLst>
          </p:cNvPr>
          <p:cNvSpPr>
            <a:spLocks noGrp="1"/>
          </p:cNvSpPr>
          <p:nvPr/>
        </p:nvSpPr>
        <p:spPr>
          <a:xfrm>
            <a:off x="838200" y="2247900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28A8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4912CCE-E5DC-4609-8C4F-808EA190FE60}"/>
              </a:ext>
            </a:extLst>
          </p:cNvPr>
          <p:cNvSpPr>
            <a:spLocks noGrp="1"/>
          </p:cNvSpPr>
          <p:nvPr/>
        </p:nvSpPr>
        <p:spPr>
          <a:xfrm>
            <a:off x="838200" y="2247900"/>
            <a:ext cx="4000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AA28BD-0524-44C0-958D-63A82328F0F7}"/>
              </a:ext>
            </a:extLst>
          </p:cNvPr>
          <p:cNvSpPr>
            <a:spLocks noGrp="1"/>
          </p:cNvSpPr>
          <p:nvPr/>
        </p:nvSpPr>
        <p:spPr>
          <a:xfrm>
            <a:off x="1390650" y="2190750"/>
            <a:ext cx="57150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Gửi</a:t>
            </a:r>
            <a:r>
              <a:rPr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cảnh</a:t>
            </a:r>
            <a:r>
              <a:rPr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báo</a:t>
            </a:r>
            <a:r>
              <a:rPr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nhanh</a:t>
            </a:r>
            <a:endParaRPr sz="12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EB137F-3954-43B5-80DA-084C64B79F78}"/>
              </a:ext>
            </a:extLst>
          </p:cNvPr>
          <p:cNvSpPr>
            <a:spLocks noGrp="1"/>
          </p:cNvSpPr>
          <p:nvPr/>
        </p:nvSpPr>
        <p:spPr>
          <a:xfrm>
            <a:off x="1390650" y="2571750"/>
            <a:ext cx="5676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6905" lnSpcReduction="20000"/>
          </a:bodyPr>
          <a:lstStyle/>
          <a:p>
            <a:pPr algn="l">
              <a:defRPr sz="1050" b="0">
                <a:solidFill>
                  <a:srgbClr val="C5CDED"/>
                </a:solidFill>
                <a:latin typeface="Arial"/>
                <a:ea typeface="Arial"/>
                <a:cs typeface="Arial"/>
              </a:defRPr>
            </a:pPr>
            <a:r>
              <a:rPr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Đẩy</a:t>
            </a: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cảnh</a:t>
            </a: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báo</a:t>
            </a: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mức</a:t>
            </a: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cao</a:t>
            </a: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đến</a:t>
            </a: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Telegram </a:t>
            </a:r>
            <a:r>
              <a:rPr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ngay</a:t>
            </a: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khi</a:t>
            </a: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Wazuh</a:t>
            </a: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sinh</a:t>
            </a: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alert.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563067C-04B6-4DB6-8402-A7C1D02D455B}"/>
              </a:ext>
            </a:extLst>
          </p:cNvPr>
          <p:cNvSpPr>
            <a:spLocks noGrp="1"/>
          </p:cNvSpPr>
          <p:nvPr/>
        </p:nvSpPr>
        <p:spPr>
          <a:xfrm>
            <a:off x="666750" y="2990850"/>
            <a:ext cx="6572250" cy="742950"/>
          </a:xfrm>
          <a:prstGeom prst="roundRect">
            <a:avLst>
              <a:gd name="adj" fmla="val 19231"/>
            </a:avLst>
          </a:prstGeom>
          <a:solidFill>
            <a:srgbClr val="101A42"/>
          </a:solidFill>
          <a:ln w="9525">
            <a:solidFill>
              <a:srgbClr val="2E43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14FD718-7FA1-4D50-8A6D-28FF05939C25}"/>
              </a:ext>
            </a:extLst>
          </p:cNvPr>
          <p:cNvSpPr>
            <a:spLocks noGrp="1"/>
          </p:cNvSpPr>
          <p:nvPr/>
        </p:nvSpPr>
        <p:spPr>
          <a:xfrm>
            <a:off x="666750" y="2990850"/>
            <a:ext cx="66675" cy="742950"/>
          </a:xfrm>
          <a:prstGeom prst="rect">
            <a:avLst/>
          </a:prstGeom>
          <a:solidFill>
            <a:srgbClr val="B99A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20F6D91-E867-4DDB-A51F-463E384CCDC5}"/>
              </a:ext>
            </a:extLst>
          </p:cNvPr>
          <p:cNvSpPr>
            <a:spLocks noGrp="1"/>
          </p:cNvSpPr>
          <p:nvPr/>
        </p:nvSpPr>
        <p:spPr>
          <a:xfrm>
            <a:off x="838200" y="3143250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B99A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C426C25-DDE0-432A-9B6B-A892C4103A72}"/>
              </a:ext>
            </a:extLst>
          </p:cNvPr>
          <p:cNvSpPr>
            <a:spLocks noGrp="1"/>
          </p:cNvSpPr>
          <p:nvPr/>
        </p:nvSpPr>
        <p:spPr>
          <a:xfrm>
            <a:off x="838200" y="3143250"/>
            <a:ext cx="4000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1128C16-4CA0-4BBF-AAC0-DA57BD49A226}"/>
              </a:ext>
            </a:extLst>
          </p:cNvPr>
          <p:cNvSpPr>
            <a:spLocks noGrp="1"/>
          </p:cNvSpPr>
          <p:nvPr/>
        </p:nvSpPr>
        <p:spPr>
          <a:xfrm>
            <a:off x="1390650" y="3086100"/>
            <a:ext cx="57150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Chuẩn hóa nội dung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C13E6B5-5FD9-424A-80C9-A0BE83FE13C5}"/>
              </a:ext>
            </a:extLst>
          </p:cNvPr>
          <p:cNvSpPr>
            <a:spLocks noGrp="1"/>
          </p:cNvSpPr>
          <p:nvPr/>
        </p:nvSpPr>
        <p:spPr>
          <a:xfrm>
            <a:off x="1390650" y="3467100"/>
            <a:ext cx="5676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6905" lnSpcReduction="20000"/>
          </a:bodyPr>
          <a:lstStyle/>
          <a:p>
            <a:pPr algn="l">
              <a:defRPr sz="1050" b="0">
                <a:solidFill>
                  <a:srgbClr val="C5CDED"/>
                </a:solidFill>
                <a:latin typeface="Arial"/>
                <a:ea typeface="Arial"/>
                <a:cs typeface="Arial"/>
              </a:defRPr>
            </a:pP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Hiển </a:t>
            </a:r>
            <a:r>
              <a:rPr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thị</a:t>
            </a: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level, rule, agent, </a:t>
            </a:r>
            <a:r>
              <a:rPr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địa</a:t>
            </a: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chỉ</a:t>
            </a: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IP </a:t>
            </a:r>
            <a:r>
              <a:rPr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và</a:t>
            </a: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thời</a:t>
            </a: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gian</a:t>
            </a: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C01DEB3-47D9-4DB9-8B7A-0232AAE4560D}"/>
              </a:ext>
            </a:extLst>
          </p:cNvPr>
          <p:cNvSpPr>
            <a:spLocks noGrp="1"/>
          </p:cNvSpPr>
          <p:nvPr/>
        </p:nvSpPr>
        <p:spPr>
          <a:xfrm>
            <a:off x="666750" y="3886200"/>
            <a:ext cx="6572250" cy="742950"/>
          </a:xfrm>
          <a:prstGeom prst="roundRect">
            <a:avLst>
              <a:gd name="adj" fmla="val 19231"/>
            </a:avLst>
          </a:prstGeom>
          <a:solidFill>
            <a:srgbClr val="101A42"/>
          </a:solidFill>
          <a:ln w="9525">
            <a:solidFill>
              <a:srgbClr val="2E43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8CEF2D9-C861-491A-8749-C144A3F4A1F0}"/>
              </a:ext>
            </a:extLst>
          </p:cNvPr>
          <p:cNvSpPr>
            <a:spLocks noGrp="1"/>
          </p:cNvSpPr>
          <p:nvPr/>
        </p:nvSpPr>
        <p:spPr>
          <a:xfrm>
            <a:off x="666750" y="3886200"/>
            <a:ext cx="66675" cy="742950"/>
          </a:xfrm>
          <a:prstGeom prst="rect">
            <a:avLst/>
          </a:prstGeom>
          <a:solidFill>
            <a:srgbClr val="FF9D42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EABC723-C225-4378-AC5A-248A814C21E2}"/>
              </a:ext>
            </a:extLst>
          </p:cNvPr>
          <p:cNvSpPr>
            <a:spLocks noGrp="1"/>
          </p:cNvSpPr>
          <p:nvPr/>
        </p:nvSpPr>
        <p:spPr>
          <a:xfrm>
            <a:off x="838200" y="4038600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FF9D4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B68C7BC-3B03-4337-BF41-F10BBDF6E341}"/>
              </a:ext>
            </a:extLst>
          </p:cNvPr>
          <p:cNvSpPr>
            <a:spLocks noGrp="1"/>
          </p:cNvSpPr>
          <p:nvPr/>
        </p:nvSpPr>
        <p:spPr>
          <a:xfrm>
            <a:off x="838200" y="4038600"/>
            <a:ext cx="4000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EFCED2E-249C-4123-AD58-2D2CE4CC5877}"/>
              </a:ext>
            </a:extLst>
          </p:cNvPr>
          <p:cNvSpPr>
            <a:spLocks noGrp="1"/>
          </p:cNvSpPr>
          <p:nvPr/>
        </p:nvSpPr>
        <p:spPr>
          <a:xfrm>
            <a:off x="1390650" y="3981450"/>
            <a:ext cx="57150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Giảm</a:t>
            </a:r>
            <a:r>
              <a:rPr sz="142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nhiễu</a:t>
            </a:r>
            <a:endParaRPr sz="1425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B229E29-D689-4D78-95AE-F6D767FB9CDE}"/>
              </a:ext>
            </a:extLst>
          </p:cNvPr>
          <p:cNvSpPr>
            <a:spLocks noGrp="1"/>
          </p:cNvSpPr>
          <p:nvPr/>
        </p:nvSpPr>
        <p:spPr>
          <a:xfrm>
            <a:off x="1390650" y="4362450"/>
            <a:ext cx="5676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6905" lnSpcReduction="20000"/>
          </a:bodyPr>
          <a:lstStyle/>
          <a:p>
            <a:pPr algn="l">
              <a:defRPr sz="1050" b="0">
                <a:solidFill>
                  <a:srgbClr val="C5CDED"/>
                </a:solidFill>
                <a:latin typeface="Arial"/>
                <a:ea typeface="Arial"/>
                <a:cs typeface="Arial"/>
              </a:defRPr>
            </a:pPr>
            <a:r>
              <a:rPr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Chỉ</a:t>
            </a: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gửi</a:t>
            </a: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cảnh</a:t>
            </a: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báo</a:t>
            </a: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từ</a:t>
            </a: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ngưỡng</a:t>
            </a: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level </a:t>
            </a:r>
            <a:r>
              <a:rPr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đã</a:t>
            </a: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cấu</a:t>
            </a: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hình</a:t>
            </a: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2DD14E2-9278-4570-84F9-26EAA67EF832}"/>
              </a:ext>
            </a:extLst>
          </p:cNvPr>
          <p:cNvSpPr>
            <a:spLocks noGrp="1"/>
          </p:cNvSpPr>
          <p:nvPr/>
        </p:nvSpPr>
        <p:spPr>
          <a:xfrm>
            <a:off x="666750" y="4781550"/>
            <a:ext cx="6572250" cy="742950"/>
          </a:xfrm>
          <a:prstGeom prst="roundRect">
            <a:avLst>
              <a:gd name="adj" fmla="val 19231"/>
            </a:avLst>
          </a:prstGeom>
          <a:solidFill>
            <a:srgbClr val="101A42"/>
          </a:solidFill>
          <a:ln w="9525">
            <a:solidFill>
              <a:srgbClr val="2E43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212A1C6-2051-4112-AC77-5D7F6EF0BB3D}"/>
              </a:ext>
            </a:extLst>
          </p:cNvPr>
          <p:cNvSpPr>
            <a:spLocks noGrp="1"/>
          </p:cNvSpPr>
          <p:nvPr/>
        </p:nvSpPr>
        <p:spPr>
          <a:xfrm>
            <a:off x="666750" y="4781550"/>
            <a:ext cx="66675" cy="742950"/>
          </a:xfrm>
          <a:prstGeom prst="rect">
            <a:avLst/>
          </a:prstGeom>
          <a:solidFill>
            <a:srgbClr val="42D6A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AA60069F-A8EF-4709-9592-BFBE6F88D2BA}"/>
              </a:ext>
            </a:extLst>
          </p:cNvPr>
          <p:cNvSpPr>
            <a:spLocks noGrp="1"/>
          </p:cNvSpPr>
          <p:nvPr/>
        </p:nvSpPr>
        <p:spPr>
          <a:xfrm>
            <a:off x="838200" y="4933950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42D6A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7B8AA33-577B-40EF-BBF2-40EB474788CC}"/>
              </a:ext>
            </a:extLst>
          </p:cNvPr>
          <p:cNvSpPr>
            <a:spLocks noGrp="1"/>
          </p:cNvSpPr>
          <p:nvPr/>
        </p:nvSpPr>
        <p:spPr>
          <a:xfrm>
            <a:off x="838200" y="4933950"/>
            <a:ext cx="4000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E0D0980-61B8-4A76-A920-AF00AA2DCA7E}"/>
              </a:ext>
            </a:extLst>
          </p:cNvPr>
          <p:cNvSpPr>
            <a:spLocks noGrp="1"/>
          </p:cNvSpPr>
          <p:nvPr/>
        </p:nvSpPr>
        <p:spPr>
          <a:xfrm>
            <a:off x="1390650" y="4876800"/>
            <a:ext cx="57150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Hỗ trợ giám sát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63FDDBC-FCF9-47B7-991C-230425DA1F2B}"/>
              </a:ext>
            </a:extLst>
          </p:cNvPr>
          <p:cNvSpPr>
            <a:spLocks noGrp="1"/>
          </p:cNvSpPr>
          <p:nvPr/>
        </p:nvSpPr>
        <p:spPr>
          <a:xfrm>
            <a:off x="1390650" y="5257800"/>
            <a:ext cx="5676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6905" lnSpcReduction="20000"/>
          </a:bodyPr>
          <a:lstStyle/>
          <a:p>
            <a:pPr algn="l">
              <a:defRPr sz="1050" b="0">
                <a:solidFill>
                  <a:srgbClr val="C5CDED"/>
                </a:solidFill>
                <a:latin typeface="Arial"/>
                <a:ea typeface="Arial"/>
                <a:cs typeface="Arial"/>
              </a:defRPr>
            </a:pPr>
            <a:r>
              <a:rPr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Kết</a:t>
            </a: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hợp</a:t>
            </a: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bot Telegram </a:t>
            </a:r>
            <a:r>
              <a:rPr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với</a:t>
            </a: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ứng</a:t>
            </a: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dụng</a:t>
            </a: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desktop Python.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2DF8FB1-0E5B-AE29-82E1-958B997167BC}"/>
              </a:ext>
            </a:extLst>
          </p:cNvPr>
          <p:cNvSpPr txBox="1"/>
          <p:nvPr/>
        </p:nvSpPr>
        <p:spPr>
          <a:xfrm>
            <a:off x="10251948" y="0"/>
            <a:ext cx="19400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IE221.F33.LT.CNTT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8FB5F2F2-5B6C-CB56-8CC7-0FD6D92F65A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4276"/>
          <a:stretch>
            <a:fillRect/>
          </a:stretch>
        </p:blipFill>
        <p:spPr>
          <a:xfrm>
            <a:off x="137690" y="176585"/>
            <a:ext cx="613642" cy="482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581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7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>
            <a:extLst>
              <a:ext uri="{FF2B5EF4-FFF2-40B4-BE49-F238E27FC236}">
                <a16:creationId xmlns:a16="http://schemas.microsoft.com/office/drawing/2014/main" id="{6A00E49F-2DBD-92EF-E591-F09406397C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4D949C3-74AC-4DDA-BD42-F65B004F1EBC}"/>
              </a:ext>
            </a:extLst>
          </p:cNvPr>
          <p:cNvSpPr>
            <a:spLocks noGrp="1"/>
          </p:cNvSpPr>
          <p:nvPr/>
        </p:nvSpPr>
        <p:spPr>
          <a:xfrm>
            <a:off x="495300" y="838200"/>
            <a:ext cx="685800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Kiến</a:t>
            </a:r>
            <a:r>
              <a:rPr sz="25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trúc</a:t>
            </a:r>
            <a:r>
              <a:rPr sz="25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tổng</a:t>
            </a:r>
            <a:r>
              <a:rPr sz="25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quan</a:t>
            </a:r>
            <a:r>
              <a:rPr lang="en-US" sz="25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55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hệ</a:t>
            </a:r>
            <a:r>
              <a:rPr lang="en-US" sz="25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55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thống</a:t>
            </a:r>
            <a:endParaRPr sz="255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EFA76C-EA23-4516-90D0-7EA6B75E03FE}"/>
              </a:ext>
            </a:extLst>
          </p:cNvPr>
          <p:cNvSpPr>
            <a:spLocks noGrp="1"/>
          </p:cNvSpPr>
          <p:nvPr/>
        </p:nvSpPr>
        <p:spPr>
          <a:xfrm>
            <a:off x="514350" y="1381125"/>
            <a:ext cx="6762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C5CDE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5CDED"/>
                </a:solidFill>
                <a:latin typeface="Arial"/>
                <a:ea typeface="Arial"/>
                <a:cs typeface="Arial"/>
              </a:rPr>
              <a:t>Các thành phần hoạt động độc lập và nối với nhau qua dữ liệu JSON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B4321824-A974-495F-A2A1-0D388E895BCE}"/>
              </a:ext>
            </a:extLst>
          </p:cNvPr>
          <p:cNvSpPr>
            <a:spLocks noGrp="1"/>
          </p:cNvSpPr>
          <p:nvPr/>
        </p:nvSpPr>
        <p:spPr>
          <a:xfrm>
            <a:off x="495300" y="1847850"/>
            <a:ext cx="6762750" cy="0"/>
          </a:xfrm>
          <a:prstGeom prst="line">
            <a:avLst/>
          </a:prstGeom>
          <a:noFill/>
          <a:ln w="19050">
            <a:solidFill>
              <a:srgbClr val="5973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6EC56FA-87E8-4A85-9A2E-5E5DC8B6BAB6}"/>
              </a:ext>
            </a:extLst>
          </p:cNvPr>
          <p:cNvSpPr>
            <a:spLocks noGrp="1"/>
          </p:cNvSpPr>
          <p:nvPr/>
        </p:nvSpPr>
        <p:spPr>
          <a:xfrm>
            <a:off x="5934075" y="6220587"/>
            <a:ext cx="3238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 lnSpcReduction="10000"/>
          </a:bodyPr>
          <a:lstStyle/>
          <a:p>
            <a:pPr algn="r">
              <a:defRPr sz="900" b="1">
                <a:solidFill>
                  <a:srgbClr val="C5CDED"/>
                </a:solidFill>
                <a:latin typeface="Arial"/>
                <a:ea typeface="Arial"/>
                <a:cs typeface="Arial"/>
              </a:defRPr>
            </a:pPr>
            <a:r>
              <a:rPr sz="900" b="1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3378549-6F2C-46F9-9690-0CC8D7962C3B}"/>
              </a:ext>
            </a:extLst>
          </p:cNvPr>
          <p:cNvSpPr>
            <a:spLocks noGrp="1"/>
          </p:cNvSpPr>
          <p:nvPr/>
        </p:nvSpPr>
        <p:spPr>
          <a:xfrm>
            <a:off x="742950" y="2076450"/>
            <a:ext cx="6477000" cy="762000"/>
          </a:xfrm>
          <a:prstGeom prst="roundRect">
            <a:avLst>
              <a:gd name="adj" fmla="val 18750"/>
            </a:avLst>
          </a:prstGeom>
          <a:solidFill>
            <a:srgbClr val="101A42"/>
          </a:solidFill>
          <a:ln w="9525">
            <a:solidFill>
              <a:srgbClr val="2E43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939C4B-2161-4D5D-8E86-E2BF610519AC}"/>
              </a:ext>
            </a:extLst>
          </p:cNvPr>
          <p:cNvSpPr>
            <a:spLocks noGrp="1"/>
          </p:cNvSpPr>
          <p:nvPr/>
        </p:nvSpPr>
        <p:spPr>
          <a:xfrm>
            <a:off x="742950" y="2076450"/>
            <a:ext cx="66675" cy="762000"/>
          </a:xfrm>
          <a:prstGeom prst="rect">
            <a:avLst/>
          </a:prstGeom>
          <a:solidFill>
            <a:srgbClr val="28A8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6A3B273-C43B-45BB-82AD-3643E40F9559}"/>
              </a:ext>
            </a:extLst>
          </p:cNvPr>
          <p:cNvSpPr>
            <a:spLocks noGrp="1"/>
          </p:cNvSpPr>
          <p:nvPr/>
        </p:nvSpPr>
        <p:spPr>
          <a:xfrm>
            <a:off x="914400" y="2228850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28A8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8565E72-82E5-4C38-8032-94CAF3C08838}"/>
              </a:ext>
            </a:extLst>
          </p:cNvPr>
          <p:cNvSpPr>
            <a:spLocks noGrp="1"/>
          </p:cNvSpPr>
          <p:nvPr/>
        </p:nvSpPr>
        <p:spPr>
          <a:xfrm>
            <a:off x="914400" y="2228850"/>
            <a:ext cx="4000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9A424C7-50B3-4BA8-9DE6-EFD9B654B38B}"/>
              </a:ext>
            </a:extLst>
          </p:cNvPr>
          <p:cNvSpPr>
            <a:spLocks noGrp="1"/>
          </p:cNvSpPr>
          <p:nvPr/>
        </p:nvSpPr>
        <p:spPr>
          <a:xfrm>
            <a:off x="1466850" y="2171700"/>
            <a:ext cx="5619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Wazuh</a:t>
            </a:r>
            <a:endParaRPr sz="1425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651F89-1B8F-4517-8A6D-8A3227192D73}"/>
              </a:ext>
            </a:extLst>
          </p:cNvPr>
          <p:cNvSpPr>
            <a:spLocks noGrp="1"/>
          </p:cNvSpPr>
          <p:nvPr/>
        </p:nvSpPr>
        <p:spPr>
          <a:xfrm>
            <a:off x="1466850" y="2552700"/>
            <a:ext cx="55816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309" lnSpcReduction="20000"/>
          </a:bodyPr>
          <a:lstStyle/>
          <a:p>
            <a:pPr algn="l">
              <a:defRPr sz="1050" b="0">
                <a:solidFill>
                  <a:srgbClr val="C5CDED"/>
                </a:solidFill>
                <a:latin typeface="Arial"/>
                <a:ea typeface="Arial"/>
                <a:cs typeface="Arial"/>
              </a:defRPr>
            </a:pP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Thu </a:t>
            </a:r>
            <a:r>
              <a:rPr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thập</a:t>
            </a: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log </a:t>
            </a:r>
            <a:r>
              <a:rPr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và</a:t>
            </a: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quản</a:t>
            </a:r>
            <a:r>
              <a:rPr lang="en-US"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lý</a:t>
            </a:r>
            <a:r>
              <a:rPr lang="en-US"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tất</a:t>
            </a:r>
            <a:r>
              <a:rPr lang="en-US"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cả</a:t>
            </a:r>
            <a:r>
              <a:rPr lang="en-US"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các</a:t>
            </a:r>
            <a:r>
              <a:rPr lang="en-US"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log</a:t>
            </a: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6114D48-705B-4ED7-8520-3A2B5B375D54}"/>
              </a:ext>
            </a:extLst>
          </p:cNvPr>
          <p:cNvSpPr>
            <a:spLocks noGrp="1"/>
          </p:cNvSpPr>
          <p:nvPr/>
        </p:nvSpPr>
        <p:spPr>
          <a:xfrm>
            <a:off x="742950" y="2981325"/>
            <a:ext cx="6477000" cy="762000"/>
          </a:xfrm>
          <a:prstGeom prst="roundRect">
            <a:avLst>
              <a:gd name="adj" fmla="val 18750"/>
            </a:avLst>
          </a:prstGeom>
          <a:solidFill>
            <a:srgbClr val="101A42"/>
          </a:solidFill>
          <a:ln w="9525">
            <a:solidFill>
              <a:srgbClr val="2E43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CCE33C-9151-4B36-8A4D-75C2A0D040EF}"/>
              </a:ext>
            </a:extLst>
          </p:cNvPr>
          <p:cNvSpPr>
            <a:spLocks noGrp="1"/>
          </p:cNvSpPr>
          <p:nvPr/>
        </p:nvSpPr>
        <p:spPr>
          <a:xfrm>
            <a:off x="742950" y="2981325"/>
            <a:ext cx="66675" cy="762000"/>
          </a:xfrm>
          <a:prstGeom prst="rect">
            <a:avLst/>
          </a:prstGeom>
          <a:solidFill>
            <a:srgbClr val="B99A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F5737E2-5CE9-4118-B6D9-AEC47A381DAF}"/>
              </a:ext>
            </a:extLst>
          </p:cNvPr>
          <p:cNvSpPr>
            <a:spLocks noGrp="1"/>
          </p:cNvSpPr>
          <p:nvPr/>
        </p:nvSpPr>
        <p:spPr>
          <a:xfrm>
            <a:off x="914400" y="3133725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B99A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34358F7-3664-478D-BB46-5C59C9A9BF57}"/>
              </a:ext>
            </a:extLst>
          </p:cNvPr>
          <p:cNvSpPr>
            <a:spLocks noGrp="1"/>
          </p:cNvSpPr>
          <p:nvPr/>
        </p:nvSpPr>
        <p:spPr>
          <a:xfrm>
            <a:off x="914400" y="3133725"/>
            <a:ext cx="4000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2D43C31-6F6C-4038-BC61-2F31E9537D62}"/>
              </a:ext>
            </a:extLst>
          </p:cNvPr>
          <p:cNvSpPr>
            <a:spLocks noGrp="1"/>
          </p:cNvSpPr>
          <p:nvPr/>
        </p:nvSpPr>
        <p:spPr>
          <a:xfrm>
            <a:off x="1466850" y="3076575"/>
            <a:ext cx="5619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Integration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F5B974B-51BD-4888-A8F2-C8D21D016630}"/>
              </a:ext>
            </a:extLst>
          </p:cNvPr>
          <p:cNvSpPr>
            <a:spLocks noGrp="1"/>
          </p:cNvSpPr>
          <p:nvPr/>
        </p:nvSpPr>
        <p:spPr>
          <a:xfrm>
            <a:off x="1466850" y="3457575"/>
            <a:ext cx="55816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309" lnSpcReduction="20000"/>
          </a:bodyPr>
          <a:lstStyle/>
          <a:p>
            <a:pPr>
              <a:defRPr sz="1050" b="0">
                <a:solidFill>
                  <a:srgbClr val="C5CDED"/>
                </a:solidFill>
                <a:latin typeface="Arial"/>
                <a:ea typeface="Arial"/>
                <a:cs typeface="Arial"/>
              </a:defRPr>
            </a:pPr>
            <a:r>
              <a:rPr lang="en-US" sz="105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Đọc</a:t>
            </a:r>
            <a:r>
              <a:rPr lang="en-US" sz="105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JSON, </a:t>
            </a:r>
            <a:r>
              <a:rPr lang="en-US" sz="105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tạo</a:t>
            </a:r>
            <a:r>
              <a:rPr lang="en-US" sz="105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message </a:t>
            </a:r>
            <a:r>
              <a:rPr lang="en-US" sz="105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và</a:t>
            </a:r>
            <a:r>
              <a:rPr lang="en-US" sz="105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gọi</a:t>
            </a:r>
            <a:r>
              <a:rPr lang="en-US" sz="105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API.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7452C72-02C2-4757-9211-D7C9016A7E31}"/>
              </a:ext>
            </a:extLst>
          </p:cNvPr>
          <p:cNvSpPr>
            <a:spLocks noGrp="1"/>
          </p:cNvSpPr>
          <p:nvPr/>
        </p:nvSpPr>
        <p:spPr>
          <a:xfrm>
            <a:off x="742950" y="3886200"/>
            <a:ext cx="6477000" cy="762000"/>
          </a:xfrm>
          <a:prstGeom prst="roundRect">
            <a:avLst>
              <a:gd name="adj" fmla="val 18750"/>
            </a:avLst>
          </a:prstGeom>
          <a:solidFill>
            <a:srgbClr val="101A42"/>
          </a:solidFill>
          <a:ln w="9525">
            <a:solidFill>
              <a:srgbClr val="2E438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F89973A-9DD4-45C8-A11F-CDCBD379CBFC}"/>
              </a:ext>
            </a:extLst>
          </p:cNvPr>
          <p:cNvSpPr>
            <a:spLocks noGrp="1"/>
          </p:cNvSpPr>
          <p:nvPr/>
        </p:nvSpPr>
        <p:spPr>
          <a:xfrm>
            <a:off x="742950" y="3886200"/>
            <a:ext cx="66675" cy="762000"/>
          </a:xfrm>
          <a:prstGeom prst="rect">
            <a:avLst/>
          </a:prstGeom>
          <a:solidFill>
            <a:srgbClr val="FF9D42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82EB539-75E5-4ACA-8355-508C5B2A6FBF}"/>
              </a:ext>
            </a:extLst>
          </p:cNvPr>
          <p:cNvSpPr>
            <a:spLocks noGrp="1"/>
          </p:cNvSpPr>
          <p:nvPr/>
        </p:nvSpPr>
        <p:spPr>
          <a:xfrm>
            <a:off x="914400" y="4038600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FF9D4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69B8B3B-6B1C-4AA5-9AEE-F52CEA9F16DF}"/>
              </a:ext>
            </a:extLst>
          </p:cNvPr>
          <p:cNvSpPr>
            <a:spLocks noGrp="1"/>
          </p:cNvSpPr>
          <p:nvPr/>
        </p:nvSpPr>
        <p:spPr>
          <a:xfrm>
            <a:off x="914400" y="4038600"/>
            <a:ext cx="4000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7955D97-CC8D-4558-B255-40A11DDC0343}"/>
              </a:ext>
            </a:extLst>
          </p:cNvPr>
          <p:cNvSpPr>
            <a:spLocks noGrp="1"/>
          </p:cNvSpPr>
          <p:nvPr/>
        </p:nvSpPr>
        <p:spPr>
          <a:xfrm>
            <a:off x="1466850" y="3981450"/>
            <a:ext cx="5619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12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Tkinter</a:t>
            </a: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&amp; </a:t>
            </a:r>
            <a:r>
              <a:rPr lang="en-US" sz="12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Mapplotlib</a:t>
            </a:r>
            <a:endParaRPr sz="12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9FF155D-2050-4844-A8D5-5249EF04242F}"/>
              </a:ext>
            </a:extLst>
          </p:cNvPr>
          <p:cNvSpPr>
            <a:spLocks noGrp="1"/>
          </p:cNvSpPr>
          <p:nvPr/>
        </p:nvSpPr>
        <p:spPr>
          <a:xfrm>
            <a:off x="1466850" y="4362450"/>
            <a:ext cx="55816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309" lnSpcReduction="20000"/>
          </a:bodyPr>
          <a:lstStyle/>
          <a:p>
            <a:pPr>
              <a:defRPr sz="1050" b="0">
                <a:solidFill>
                  <a:srgbClr val="C5CDED"/>
                </a:solidFill>
                <a:latin typeface="Arial"/>
                <a:ea typeface="Arial"/>
                <a:cs typeface="Arial"/>
              </a:defRPr>
            </a:pPr>
            <a:r>
              <a:rPr lang="en-US" sz="1050" dirty="0" err="1">
                <a:solidFill>
                  <a:srgbClr val="C5CDED"/>
                </a:solidFill>
                <a:latin typeface="Arial"/>
              </a:rPr>
              <a:t>xây</a:t>
            </a:r>
            <a:r>
              <a:rPr lang="en-US" sz="1050" dirty="0">
                <a:solidFill>
                  <a:srgbClr val="C5CDED"/>
                </a:solidFill>
                <a:latin typeface="Arial"/>
              </a:rPr>
              <a:t> </a:t>
            </a:r>
            <a:r>
              <a:rPr lang="en-US" sz="1050" dirty="0" err="1">
                <a:solidFill>
                  <a:srgbClr val="C5CDED"/>
                </a:solidFill>
                <a:latin typeface="Arial"/>
              </a:rPr>
              <a:t>dựng</a:t>
            </a:r>
            <a:r>
              <a:rPr lang="en-US" sz="1050" dirty="0">
                <a:solidFill>
                  <a:srgbClr val="C5CDED"/>
                </a:solidFill>
                <a:latin typeface="Arial"/>
              </a:rPr>
              <a:t> </a:t>
            </a:r>
            <a:r>
              <a:rPr lang="en-US" sz="1050" dirty="0" err="1">
                <a:solidFill>
                  <a:srgbClr val="C5CDED"/>
                </a:solidFill>
                <a:latin typeface="Arial"/>
              </a:rPr>
              <a:t>giao</a:t>
            </a:r>
            <a:r>
              <a:rPr lang="en-US" sz="1050" dirty="0">
                <a:solidFill>
                  <a:srgbClr val="C5CDED"/>
                </a:solidFill>
                <a:latin typeface="Arial"/>
              </a:rPr>
              <a:t> </a:t>
            </a:r>
            <a:r>
              <a:rPr lang="en-US" sz="1050" dirty="0" err="1">
                <a:solidFill>
                  <a:srgbClr val="C5CDED"/>
                </a:solidFill>
                <a:latin typeface="Arial"/>
              </a:rPr>
              <a:t>diện</a:t>
            </a:r>
            <a:r>
              <a:rPr lang="en-US" sz="1050" dirty="0">
                <a:solidFill>
                  <a:srgbClr val="C5CDED"/>
                </a:solidFill>
                <a:latin typeface="Arial"/>
              </a:rPr>
              <a:t> </a:t>
            </a:r>
            <a:r>
              <a:rPr lang="en-US" sz="1050" dirty="0" err="1">
                <a:solidFill>
                  <a:srgbClr val="C5CDED"/>
                </a:solidFill>
                <a:latin typeface="Arial"/>
              </a:rPr>
              <a:t>và</a:t>
            </a:r>
            <a:r>
              <a:rPr lang="en-US" sz="1050" dirty="0">
                <a:solidFill>
                  <a:srgbClr val="C5CDED"/>
                </a:solidFill>
                <a:latin typeface="Arial"/>
              </a:rPr>
              <a:t> </a:t>
            </a:r>
            <a:r>
              <a:rPr lang="en-US" sz="1050" dirty="0" err="1">
                <a:solidFill>
                  <a:srgbClr val="C5CDED"/>
                </a:solidFill>
                <a:latin typeface="Arial"/>
              </a:rPr>
              <a:t>hiển</a:t>
            </a:r>
            <a:r>
              <a:rPr lang="en-US" sz="1050" dirty="0">
                <a:solidFill>
                  <a:srgbClr val="C5CDED"/>
                </a:solidFill>
                <a:latin typeface="Arial"/>
              </a:rPr>
              <a:t> </a:t>
            </a:r>
            <a:r>
              <a:rPr lang="en-US" sz="1050" dirty="0" err="1">
                <a:solidFill>
                  <a:srgbClr val="C5CDED"/>
                </a:solidFill>
                <a:latin typeface="Arial"/>
              </a:rPr>
              <a:t>thị</a:t>
            </a:r>
            <a:r>
              <a:rPr lang="en-US" sz="1050" dirty="0">
                <a:solidFill>
                  <a:srgbClr val="C5CDED"/>
                </a:solidFill>
                <a:latin typeface="Arial"/>
              </a:rPr>
              <a:t> </a:t>
            </a:r>
            <a:r>
              <a:rPr lang="en-US" sz="1050" dirty="0" err="1">
                <a:solidFill>
                  <a:srgbClr val="C5CDED"/>
                </a:solidFill>
                <a:latin typeface="Arial"/>
              </a:rPr>
              <a:t>biểu</a:t>
            </a:r>
            <a:r>
              <a:rPr lang="en-US" sz="1050" dirty="0">
                <a:solidFill>
                  <a:srgbClr val="C5CDED"/>
                </a:solidFill>
                <a:latin typeface="Arial"/>
              </a:rPr>
              <a:t> </a:t>
            </a:r>
            <a:r>
              <a:rPr lang="en-US" sz="1050" dirty="0" err="1">
                <a:solidFill>
                  <a:srgbClr val="C5CDED"/>
                </a:solidFill>
                <a:latin typeface="Arial"/>
              </a:rPr>
              <a:t>đồ</a:t>
            </a:r>
            <a:endParaRPr sz="1050" b="0" dirty="0">
              <a:solidFill>
                <a:srgbClr val="C5CDE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5AD8670-BE97-4A9E-ADB3-D57C1EC15AD3}"/>
              </a:ext>
            </a:extLst>
          </p:cNvPr>
          <p:cNvSpPr>
            <a:spLocks noGrp="1"/>
          </p:cNvSpPr>
          <p:nvPr/>
        </p:nvSpPr>
        <p:spPr>
          <a:xfrm>
            <a:off x="742950" y="4791075"/>
            <a:ext cx="6477000" cy="762000"/>
          </a:xfrm>
          <a:prstGeom prst="roundRect">
            <a:avLst>
              <a:gd name="adj" fmla="val 18750"/>
            </a:avLst>
          </a:prstGeom>
          <a:solidFill>
            <a:srgbClr val="101A42"/>
          </a:solidFill>
          <a:ln w="9525">
            <a:solidFill>
              <a:srgbClr val="2E43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34B7A7B-BF63-41C9-86C1-958CE9717245}"/>
              </a:ext>
            </a:extLst>
          </p:cNvPr>
          <p:cNvSpPr>
            <a:spLocks noGrp="1"/>
          </p:cNvSpPr>
          <p:nvPr/>
        </p:nvSpPr>
        <p:spPr>
          <a:xfrm>
            <a:off x="742950" y="4791075"/>
            <a:ext cx="66675" cy="762000"/>
          </a:xfrm>
          <a:prstGeom prst="rect">
            <a:avLst/>
          </a:prstGeom>
          <a:solidFill>
            <a:srgbClr val="42D6A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8EDA454-4942-47CD-8C8F-D689E12005B1}"/>
              </a:ext>
            </a:extLst>
          </p:cNvPr>
          <p:cNvSpPr>
            <a:spLocks noGrp="1"/>
          </p:cNvSpPr>
          <p:nvPr/>
        </p:nvSpPr>
        <p:spPr>
          <a:xfrm>
            <a:off x="914400" y="4943475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42D6A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A7615C4-7488-4EAE-9873-2ED37290F3B8}"/>
              </a:ext>
            </a:extLst>
          </p:cNvPr>
          <p:cNvSpPr>
            <a:spLocks noGrp="1"/>
          </p:cNvSpPr>
          <p:nvPr/>
        </p:nvSpPr>
        <p:spPr>
          <a:xfrm>
            <a:off x="914400" y="4943475"/>
            <a:ext cx="4000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C56A28A-784A-4D10-98BF-3894BD3FE399}"/>
              </a:ext>
            </a:extLst>
          </p:cNvPr>
          <p:cNvSpPr>
            <a:spLocks noGrp="1"/>
          </p:cNvSpPr>
          <p:nvPr/>
        </p:nvSpPr>
        <p:spPr>
          <a:xfrm>
            <a:off x="1466850" y="4886325"/>
            <a:ext cx="5619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Telegram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4E4CB95-9D6C-49B1-ABCF-99E62F3E2FA0}"/>
              </a:ext>
            </a:extLst>
          </p:cNvPr>
          <p:cNvSpPr>
            <a:spLocks noGrp="1"/>
          </p:cNvSpPr>
          <p:nvPr/>
        </p:nvSpPr>
        <p:spPr>
          <a:xfrm>
            <a:off x="1466850" y="5267325"/>
            <a:ext cx="55816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309" lnSpcReduction="20000"/>
          </a:bodyPr>
          <a:lstStyle/>
          <a:p>
            <a:pPr algn="l">
              <a:defRPr sz="1050" b="0">
                <a:solidFill>
                  <a:srgbClr val="C5CDED"/>
                </a:solidFill>
                <a:latin typeface="Arial"/>
                <a:ea typeface="Arial"/>
                <a:cs typeface="Arial"/>
              </a:defRPr>
            </a:pPr>
            <a:r>
              <a:rPr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Gửi</a:t>
            </a: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thông</a:t>
            </a: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báo</a:t>
            </a:r>
            <a:r>
              <a:rPr lang="en-US"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kịp</a:t>
            </a:r>
            <a:r>
              <a:rPr lang="en-US"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thời</a:t>
            </a:r>
            <a:r>
              <a:rPr lang="en-US"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đến</a:t>
            </a:r>
            <a:r>
              <a:rPr lang="en-US"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người</a:t>
            </a:r>
            <a:r>
              <a:rPr lang="en-US"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quản</a:t>
            </a:r>
            <a:r>
              <a:rPr lang="en-US"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lý</a:t>
            </a:r>
            <a:r>
              <a:rPr lang="en-US"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hệ</a:t>
            </a:r>
            <a:r>
              <a:rPr lang="en-US"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thống</a:t>
            </a: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4E7CBC8-2B31-20EE-35A6-78941CAF6AE6}"/>
              </a:ext>
            </a:extLst>
          </p:cNvPr>
          <p:cNvSpPr txBox="1"/>
          <p:nvPr/>
        </p:nvSpPr>
        <p:spPr>
          <a:xfrm>
            <a:off x="10251948" y="0"/>
            <a:ext cx="19400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IE221.F33.LT.CNTT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7390EE3B-3FAF-2D9F-2AA1-62A6B14B9D0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4276"/>
          <a:stretch>
            <a:fillRect/>
          </a:stretch>
        </p:blipFill>
        <p:spPr>
          <a:xfrm>
            <a:off x="137690" y="176585"/>
            <a:ext cx="613642" cy="482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062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7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F2C5D270-4654-EB48-4F3E-CFE630CC1A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9144"/>
            <a:ext cx="12185522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2B5BCEB-8AE0-4F43-A673-131D28D10708}"/>
              </a:ext>
            </a:extLst>
          </p:cNvPr>
          <p:cNvSpPr>
            <a:spLocks noGrp="1"/>
          </p:cNvSpPr>
          <p:nvPr/>
        </p:nvSpPr>
        <p:spPr>
          <a:xfrm>
            <a:off x="495300" y="838200"/>
            <a:ext cx="685800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Luồng xử lý cảnh báo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6F411E-E310-4C5A-8287-E29DDD420BBD}"/>
              </a:ext>
            </a:extLst>
          </p:cNvPr>
          <p:cNvSpPr>
            <a:spLocks noGrp="1"/>
          </p:cNvSpPr>
          <p:nvPr/>
        </p:nvSpPr>
        <p:spPr>
          <a:xfrm>
            <a:off x="514350" y="1381125"/>
            <a:ext cx="6762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C5CDED"/>
                </a:solidFill>
                <a:latin typeface="Arial"/>
                <a:ea typeface="Arial"/>
                <a:cs typeface="Arial"/>
              </a:defRPr>
            </a:pPr>
            <a:r>
              <a:rPr lang="en-US" sz="120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Sáu</a:t>
            </a:r>
            <a:r>
              <a:rPr sz="120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bước</a:t>
            </a:r>
            <a:r>
              <a:rPr sz="120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từ</a:t>
            </a:r>
            <a:r>
              <a:rPr sz="120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sự</a:t>
            </a:r>
            <a:r>
              <a:rPr sz="120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kiện</a:t>
            </a:r>
            <a:r>
              <a:rPr sz="120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tại</a:t>
            </a:r>
            <a:r>
              <a:rPr sz="120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endpoint </a:t>
            </a:r>
            <a:r>
              <a:rPr sz="120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đến</a:t>
            </a:r>
            <a:r>
              <a:rPr sz="120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Telegram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2C94439D-039A-4137-B942-FC68AAF51444}"/>
              </a:ext>
            </a:extLst>
          </p:cNvPr>
          <p:cNvSpPr>
            <a:spLocks noGrp="1"/>
          </p:cNvSpPr>
          <p:nvPr/>
        </p:nvSpPr>
        <p:spPr>
          <a:xfrm>
            <a:off x="495300" y="1847850"/>
            <a:ext cx="6762750" cy="0"/>
          </a:xfrm>
          <a:prstGeom prst="line">
            <a:avLst/>
          </a:prstGeom>
          <a:noFill/>
          <a:ln w="19050">
            <a:solidFill>
              <a:srgbClr val="5973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ED8866-7939-4924-8C12-E377192F8700}"/>
              </a:ext>
            </a:extLst>
          </p:cNvPr>
          <p:cNvSpPr>
            <a:spLocks noGrp="1"/>
          </p:cNvSpPr>
          <p:nvPr/>
        </p:nvSpPr>
        <p:spPr>
          <a:xfrm>
            <a:off x="5962078" y="6238875"/>
            <a:ext cx="3238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 lnSpcReduction="10000"/>
          </a:bodyPr>
          <a:lstStyle/>
          <a:p>
            <a:pPr algn="r">
              <a:defRPr sz="900" b="1">
                <a:solidFill>
                  <a:srgbClr val="C5CDED"/>
                </a:solidFill>
                <a:latin typeface="Arial"/>
                <a:ea typeface="Arial"/>
                <a:cs typeface="Arial"/>
              </a:defRPr>
            </a:pPr>
            <a:r>
              <a:rPr sz="900" b="1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6502C48-5628-4628-B236-6B9E9EA5D737}"/>
              </a:ext>
            </a:extLst>
          </p:cNvPr>
          <p:cNvSpPr>
            <a:spLocks noGrp="1"/>
          </p:cNvSpPr>
          <p:nvPr/>
        </p:nvSpPr>
        <p:spPr>
          <a:xfrm>
            <a:off x="590550" y="2076450"/>
            <a:ext cx="3190875" cy="933450"/>
          </a:xfrm>
          <a:prstGeom prst="roundRect">
            <a:avLst>
              <a:gd name="adj" fmla="val 15306"/>
            </a:avLst>
          </a:prstGeom>
          <a:solidFill>
            <a:srgbClr val="101A42"/>
          </a:solidFill>
          <a:ln w="9525">
            <a:solidFill>
              <a:srgbClr val="2E43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62305A-4FBF-4D77-A3DD-520C0487A8FC}"/>
              </a:ext>
            </a:extLst>
          </p:cNvPr>
          <p:cNvSpPr>
            <a:spLocks noGrp="1"/>
          </p:cNvSpPr>
          <p:nvPr/>
        </p:nvSpPr>
        <p:spPr>
          <a:xfrm>
            <a:off x="590550" y="2076450"/>
            <a:ext cx="66675" cy="933450"/>
          </a:xfrm>
          <a:prstGeom prst="rect">
            <a:avLst/>
          </a:prstGeom>
          <a:solidFill>
            <a:srgbClr val="28A8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A0FB609-51C6-4FC1-8E43-A24C2D96AE59}"/>
              </a:ext>
            </a:extLst>
          </p:cNvPr>
          <p:cNvSpPr>
            <a:spLocks noGrp="1"/>
          </p:cNvSpPr>
          <p:nvPr/>
        </p:nvSpPr>
        <p:spPr>
          <a:xfrm>
            <a:off x="762000" y="2228850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28A8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835BC3-A6FA-4350-A8A3-1CDA5CB278E4}"/>
              </a:ext>
            </a:extLst>
          </p:cNvPr>
          <p:cNvSpPr>
            <a:spLocks noGrp="1"/>
          </p:cNvSpPr>
          <p:nvPr/>
        </p:nvSpPr>
        <p:spPr>
          <a:xfrm>
            <a:off x="762000" y="2228850"/>
            <a:ext cx="4000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5B8D897-33D2-4890-B596-A27C5FFF28AE}"/>
              </a:ext>
            </a:extLst>
          </p:cNvPr>
          <p:cNvSpPr>
            <a:spLocks noGrp="1"/>
          </p:cNvSpPr>
          <p:nvPr/>
        </p:nvSpPr>
        <p:spPr>
          <a:xfrm>
            <a:off x="1314450" y="2171700"/>
            <a:ext cx="233362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Phát sinh sự kiện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5C8D3B-D44E-4870-9FEB-1A7EF1EFF591}"/>
              </a:ext>
            </a:extLst>
          </p:cNvPr>
          <p:cNvSpPr>
            <a:spLocks noGrp="1"/>
          </p:cNvSpPr>
          <p:nvPr/>
        </p:nvSpPr>
        <p:spPr>
          <a:xfrm>
            <a:off x="1314450" y="2552700"/>
            <a:ext cx="229552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0">
                <a:solidFill>
                  <a:srgbClr val="C5CDED"/>
                </a:solidFill>
                <a:latin typeface="Arial"/>
                <a:ea typeface="Arial"/>
                <a:cs typeface="Arial"/>
              </a:defRPr>
            </a:pP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Agent </a:t>
            </a:r>
            <a:r>
              <a:rPr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gửi</a:t>
            </a: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log </a:t>
            </a:r>
            <a:r>
              <a:rPr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về</a:t>
            </a: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Wazuh</a:t>
            </a: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Manager.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2E80AB6-CE58-4E8E-88AA-3C20C351B72E}"/>
              </a:ext>
            </a:extLst>
          </p:cNvPr>
          <p:cNvSpPr>
            <a:spLocks noGrp="1"/>
          </p:cNvSpPr>
          <p:nvPr/>
        </p:nvSpPr>
        <p:spPr>
          <a:xfrm>
            <a:off x="4019550" y="2076450"/>
            <a:ext cx="3190875" cy="933450"/>
          </a:xfrm>
          <a:prstGeom prst="roundRect">
            <a:avLst>
              <a:gd name="adj" fmla="val 15306"/>
            </a:avLst>
          </a:prstGeom>
          <a:solidFill>
            <a:srgbClr val="101A42"/>
          </a:solidFill>
          <a:ln w="9525">
            <a:solidFill>
              <a:srgbClr val="2E43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9D3A2ED-A7B6-4099-8104-199D7FF7F24D}"/>
              </a:ext>
            </a:extLst>
          </p:cNvPr>
          <p:cNvSpPr>
            <a:spLocks noGrp="1"/>
          </p:cNvSpPr>
          <p:nvPr/>
        </p:nvSpPr>
        <p:spPr>
          <a:xfrm>
            <a:off x="4019550" y="2076450"/>
            <a:ext cx="66675" cy="933450"/>
          </a:xfrm>
          <a:prstGeom prst="rect">
            <a:avLst/>
          </a:prstGeom>
          <a:solidFill>
            <a:srgbClr val="B99A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18305D3-E9F1-496E-9D04-6A7546BC53E6}"/>
              </a:ext>
            </a:extLst>
          </p:cNvPr>
          <p:cNvSpPr>
            <a:spLocks noGrp="1"/>
          </p:cNvSpPr>
          <p:nvPr/>
        </p:nvSpPr>
        <p:spPr>
          <a:xfrm>
            <a:off x="4191000" y="2228850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B99A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F4B0E1B-7D4E-46E3-95A5-3828B5D4ADF4}"/>
              </a:ext>
            </a:extLst>
          </p:cNvPr>
          <p:cNvSpPr>
            <a:spLocks noGrp="1"/>
          </p:cNvSpPr>
          <p:nvPr/>
        </p:nvSpPr>
        <p:spPr>
          <a:xfrm>
            <a:off x="4191000" y="2228850"/>
            <a:ext cx="4000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983DC94-9A1C-4C5C-ACC7-EA19BBD420ED}"/>
              </a:ext>
            </a:extLst>
          </p:cNvPr>
          <p:cNvSpPr>
            <a:spLocks noGrp="1"/>
          </p:cNvSpPr>
          <p:nvPr/>
        </p:nvSpPr>
        <p:spPr>
          <a:xfrm>
            <a:off x="4743450" y="2171700"/>
            <a:ext cx="233362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Đánh</a:t>
            </a:r>
            <a:r>
              <a:rPr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giá</a:t>
            </a:r>
            <a:r>
              <a:rPr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rule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D590890-EE9F-4F68-8FBC-3DA688E1B7EA}"/>
              </a:ext>
            </a:extLst>
          </p:cNvPr>
          <p:cNvSpPr>
            <a:spLocks noGrp="1"/>
          </p:cNvSpPr>
          <p:nvPr/>
        </p:nvSpPr>
        <p:spPr>
          <a:xfrm>
            <a:off x="4743450" y="2552700"/>
            <a:ext cx="229552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075" lnSpcReduction="10000"/>
          </a:bodyPr>
          <a:lstStyle/>
          <a:p>
            <a:pPr algn="l">
              <a:defRPr sz="1050" b="0">
                <a:solidFill>
                  <a:srgbClr val="C5CDED"/>
                </a:solidFill>
                <a:latin typeface="Arial"/>
                <a:ea typeface="Arial"/>
                <a:cs typeface="Arial"/>
              </a:defRPr>
            </a:pPr>
            <a:r>
              <a:rPr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Wazuh</a:t>
            </a: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xác</a:t>
            </a: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định</a:t>
            </a: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rule ID, level </a:t>
            </a:r>
            <a:r>
              <a:rPr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và</a:t>
            </a: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mô</a:t>
            </a: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tả</a:t>
            </a: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427E8F6-B181-4435-BA3A-64E44EFF549C}"/>
              </a:ext>
            </a:extLst>
          </p:cNvPr>
          <p:cNvSpPr>
            <a:spLocks noGrp="1"/>
          </p:cNvSpPr>
          <p:nvPr/>
        </p:nvSpPr>
        <p:spPr>
          <a:xfrm>
            <a:off x="590550" y="3200400"/>
            <a:ext cx="3190875" cy="933450"/>
          </a:xfrm>
          <a:prstGeom prst="roundRect">
            <a:avLst>
              <a:gd name="adj" fmla="val 15306"/>
            </a:avLst>
          </a:prstGeom>
          <a:solidFill>
            <a:srgbClr val="101A42"/>
          </a:solidFill>
          <a:ln w="9525">
            <a:solidFill>
              <a:srgbClr val="2E43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7534CD6-17A6-445F-B4D8-9CE0687321A9}"/>
              </a:ext>
            </a:extLst>
          </p:cNvPr>
          <p:cNvSpPr>
            <a:spLocks noGrp="1"/>
          </p:cNvSpPr>
          <p:nvPr/>
        </p:nvSpPr>
        <p:spPr>
          <a:xfrm>
            <a:off x="590550" y="3200400"/>
            <a:ext cx="66675" cy="933450"/>
          </a:xfrm>
          <a:prstGeom prst="rect">
            <a:avLst/>
          </a:prstGeom>
          <a:solidFill>
            <a:srgbClr val="FF9D42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28EC665-BC0C-4BE0-8380-A59CF4251BD0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FF9D4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006CA4C-CA49-494F-A079-F7D8CC2CD376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4000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88C3F4F-F588-469A-B2B0-A98013CE1AA3}"/>
              </a:ext>
            </a:extLst>
          </p:cNvPr>
          <p:cNvSpPr>
            <a:spLocks noGrp="1"/>
          </p:cNvSpPr>
          <p:nvPr/>
        </p:nvSpPr>
        <p:spPr>
          <a:xfrm>
            <a:off x="1314450" y="3295650"/>
            <a:ext cx="233362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Kiểm tra ngưỡng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B5461A4-5BEC-4F8B-B9A6-05CEF8182C2C}"/>
              </a:ext>
            </a:extLst>
          </p:cNvPr>
          <p:cNvSpPr>
            <a:spLocks noGrp="1"/>
          </p:cNvSpPr>
          <p:nvPr/>
        </p:nvSpPr>
        <p:spPr>
          <a:xfrm>
            <a:off x="1314450" y="3676650"/>
            <a:ext cx="229552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976" lnSpcReduction="10000"/>
          </a:bodyPr>
          <a:lstStyle/>
          <a:p>
            <a:pPr algn="l">
              <a:defRPr sz="1050" b="0">
                <a:solidFill>
                  <a:srgbClr val="C5CDED"/>
                </a:solidFill>
                <a:latin typeface="Arial"/>
                <a:ea typeface="Arial"/>
                <a:cs typeface="Arial"/>
              </a:defRPr>
            </a:pP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Integration </a:t>
            </a:r>
            <a:r>
              <a:rPr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nhận</a:t>
            </a: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cảnh</a:t>
            </a: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báo</a:t>
            </a: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đủ</a:t>
            </a: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điều</a:t>
            </a: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kiện</a:t>
            </a: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C0ABC1A-F28E-4E91-81EB-E299C1FFD34E}"/>
              </a:ext>
            </a:extLst>
          </p:cNvPr>
          <p:cNvSpPr>
            <a:spLocks noGrp="1"/>
          </p:cNvSpPr>
          <p:nvPr/>
        </p:nvSpPr>
        <p:spPr>
          <a:xfrm>
            <a:off x="4019550" y="3200400"/>
            <a:ext cx="3190875" cy="933450"/>
          </a:xfrm>
          <a:prstGeom prst="roundRect">
            <a:avLst>
              <a:gd name="adj" fmla="val 15306"/>
            </a:avLst>
          </a:prstGeom>
          <a:solidFill>
            <a:srgbClr val="101A42"/>
          </a:solidFill>
          <a:ln w="9525">
            <a:solidFill>
              <a:srgbClr val="2E43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B425773-F039-4F82-89BC-10C29833A8C7}"/>
              </a:ext>
            </a:extLst>
          </p:cNvPr>
          <p:cNvSpPr>
            <a:spLocks noGrp="1"/>
          </p:cNvSpPr>
          <p:nvPr/>
        </p:nvSpPr>
        <p:spPr>
          <a:xfrm>
            <a:off x="4019550" y="3200400"/>
            <a:ext cx="66675" cy="933450"/>
          </a:xfrm>
          <a:prstGeom prst="rect">
            <a:avLst/>
          </a:prstGeom>
          <a:solidFill>
            <a:srgbClr val="42D6A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ABE3FFA-7390-41AA-AEAF-68FA2A321F97}"/>
              </a:ext>
            </a:extLst>
          </p:cNvPr>
          <p:cNvSpPr>
            <a:spLocks noGrp="1"/>
          </p:cNvSpPr>
          <p:nvPr/>
        </p:nvSpPr>
        <p:spPr>
          <a:xfrm>
            <a:off x="4191000" y="3352800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42D6A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359FC0B-C8EC-4CD5-B752-DB45CB4AC1A8}"/>
              </a:ext>
            </a:extLst>
          </p:cNvPr>
          <p:cNvSpPr>
            <a:spLocks noGrp="1"/>
          </p:cNvSpPr>
          <p:nvPr/>
        </p:nvSpPr>
        <p:spPr>
          <a:xfrm>
            <a:off x="4191000" y="3352800"/>
            <a:ext cx="4000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07CD317-414D-45C8-8718-9124BF3097A5}"/>
              </a:ext>
            </a:extLst>
          </p:cNvPr>
          <p:cNvSpPr>
            <a:spLocks noGrp="1"/>
          </p:cNvSpPr>
          <p:nvPr/>
        </p:nvSpPr>
        <p:spPr>
          <a:xfrm>
            <a:off x="4743450" y="3295650"/>
            <a:ext cx="233362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Định dạng message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7D07E13-E2F2-4D91-935C-40E19F7431B0}"/>
              </a:ext>
            </a:extLst>
          </p:cNvPr>
          <p:cNvSpPr>
            <a:spLocks noGrp="1"/>
          </p:cNvSpPr>
          <p:nvPr/>
        </p:nvSpPr>
        <p:spPr>
          <a:xfrm>
            <a:off x="4740211" y="3619500"/>
            <a:ext cx="229552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0">
                <a:solidFill>
                  <a:srgbClr val="C5CDED"/>
                </a:solidFill>
                <a:latin typeface="Arial"/>
                <a:ea typeface="Arial"/>
                <a:cs typeface="Arial"/>
              </a:defRPr>
            </a:pP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Python </a:t>
            </a:r>
            <a:r>
              <a:rPr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lọc</a:t>
            </a: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JSON </a:t>
            </a:r>
            <a:r>
              <a:rPr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và</a:t>
            </a: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tạo</a:t>
            </a: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nội</a:t>
            </a: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dung.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BDC60DB-B659-4AB2-94B0-EB3DFB150E4C}"/>
              </a:ext>
            </a:extLst>
          </p:cNvPr>
          <p:cNvSpPr>
            <a:spLocks noGrp="1"/>
          </p:cNvSpPr>
          <p:nvPr/>
        </p:nvSpPr>
        <p:spPr>
          <a:xfrm>
            <a:off x="590550" y="4324350"/>
            <a:ext cx="3190875" cy="933450"/>
          </a:xfrm>
          <a:prstGeom prst="roundRect">
            <a:avLst>
              <a:gd name="adj" fmla="val 15306"/>
            </a:avLst>
          </a:prstGeom>
          <a:solidFill>
            <a:srgbClr val="101A42"/>
          </a:solidFill>
          <a:ln w="9525">
            <a:solidFill>
              <a:srgbClr val="2E43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D741178-8050-426A-962F-62A8491D900E}"/>
              </a:ext>
            </a:extLst>
          </p:cNvPr>
          <p:cNvSpPr>
            <a:spLocks noGrp="1"/>
          </p:cNvSpPr>
          <p:nvPr/>
        </p:nvSpPr>
        <p:spPr>
          <a:xfrm>
            <a:off x="590550" y="4324350"/>
            <a:ext cx="66675" cy="933450"/>
          </a:xfrm>
          <a:prstGeom prst="rect">
            <a:avLst/>
          </a:prstGeom>
          <a:solidFill>
            <a:srgbClr val="28A8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850FD759-7B65-41F0-850F-8464BFB2C848}"/>
              </a:ext>
            </a:extLst>
          </p:cNvPr>
          <p:cNvSpPr>
            <a:spLocks noGrp="1"/>
          </p:cNvSpPr>
          <p:nvPr/>
        </p:nvSpPr>
        <p:spPr>
          <a:xfrm>
            <a:off x="762000" y="4476750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28A8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AC9D341-1C0D-42D5-82AF-9B55620D77EC}"/>
              </a:ext>
            </a:extLst>
          </p:cNvPr>
          <p:cNvSpPr>
            <a:spLocks noGrp="1"/>
          </p:cNvSpPr>
          <p:nvPr/>
        </p:nvSpPr>
        <p:spPr>
          <a:xfrm>
            <a:off x="762000" y="4476750"/>
            <a:ext cx="4000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58C85D5-2500-4947-969F-95249988C45B}"/>
              </a:ext>
            </a:extLst>
          </p:cNvPr>
          <p:cNvSpPr>
            <a:spLocks noGrp="1"/>
          </p:cNvSpPr>
          <p:nvPr/>
        </p:nvSpPr>
        <p:spPr>
          <a:xfrm>
            <a:off x="1314450" y="4419600"/>
            <a:ext cx="233362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Gửi Telegram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86F889B-905D-41B7-B97C-7D6B05813388}"/>
              </a:ext>
            </a:extLst>
          </p:cNvPr>
          <p:cNvSpPr>
            <a:spLocks noGrp="1"/>
          </p:cNvSpPr>
          <p:nvPr/>
        </p:nvSpPr>
        <p:spPr>
          <a:xfrm>
            <a:off x="1314450" y="4800600"/>
            <a:ext cx="229552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976" lnSpcReduction="10000"/>
          </a:bodyPr>
          <a:lstStyle/>
          <a:p>
            <a:pPr algn="l">
              <a:defRPr sz="1050" b="0">
                <a:solidFill>
                  <a:srgbClr val="C5CDED"/>
                </a:solidFill>
                <a:latin typeface="Arial"/>
                <a:ea typeface="Arial"/>
                <a:cs typeface="Arial"/>
              </a:defRPr>
            </a:pP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Bot API </a:t>
            </a:r>
            <a:r>
              <a:rPr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chuyển</a:t>
            </a: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tin </a:t>
            </a:r>
            <a:r>
              <a:rPr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nhắn</a:t>
            </a: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đến</a:t>
            </a: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người</a:t>
            </a: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quản</a:t>
            </a: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trị</a:t>
            </a:r>
            <a:r>
              <a:rPr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F300A56-A44F-F9A3-FC45-A91857689F22}"/>
              </a:ext>
            </a:extLst>
          </p:cNvPr>
          <p:cNvSpPr txBox="1"/>
          <p:nvPr/>
        </p:nvSpPr>
        <p:spPr>
          <a:xfrm>
            <a:off x="10251948" y="0"/>
            <a:ext cx="19400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IE221.F33.LT.CNTT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A8828EBD-E80E-5F87-13F5-C55B80C0F9C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4276"/>
          <a:stretch>
            <a:fillRect/>
          </a:stretch>
        </p:blipFill>
        <p:spPr>
          <a:xfrm>
            <a:off x="137690" y="176585"/>
            <a:ext cx="613642" cy="482005"/>
          </a:xfrm>
          <a:prstGeom prst="rect">
            <a:avLst/>
          </a:prstGeom>
        </p:spPr>
      </p:pic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3924DD74-D15C-CE21-07EF-0D6746FEEAC8}"/>
              </a:ext>
            </a:extLst>
          </p:cNvPr>
          <p:cNvSpPr>
            <a:spLocks noGrp="1"/>
          </p:cNvSpPr>
          <p:nvPr/>
        </p:nvSpPr>
        <p:spPr>
          <a:xfrm>
            <a:off x="4019550" y="4333875"/>
            <a:ext cx="3190875" cy="933450"/>
          </a:xfrm>
          <a:prstGeom prst="roundRect">
            <a:avLst>
              <a:gd name="adj" fmla="val 15306"/>
            </a:avLst>
          </a:prstGeom>
          <a:solidFill>
            <a:srgbClr val="101A42"/>
          </a:solidFill>
          <a:ln w="9525">
            <a:solidFill>
              <a:srgbClr val="2E43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1E9ED8A-BD0E-6406-FA06-3A4E4E7B6201}"/>
              </a:ext>
            </a:extLst>
          </p:cNvPr>
          <p:cNvSpPr>
            <a:spLocks noGrp="1"/>
          </p:cNvSpPr>
          <p:nvPr/>
        </p:nvSpPr>
        <p:spPr>
          <a:xfrm>
            <a:off x="4019550" y="4333875"/>
            <a:ext cx="66675" cy="933450"/>
          </a:xfrm>
          <a:prstGeom prst="rect">
            <a:avLst/>
          </a:prstGeom>
          <a:solidFill>
            <a:srgbClr val="28A8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A4ED57C5-7B24-7DF3-1FB1-1934589CC9D8}"/>
              </a:ext>
            </a:extLst>
          </p:cNvPr>
          <p:cNvSpPr>
            <a:spLocks noGrp="1"/>
          </p:cNvSpPr>
          <p:nvPr/>
        </p:nvSpPr>
        <p:spPr>
          <a:xfrm>
            <a:off x="4191000" y="4486275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28A8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667D72D-16D9-0B3E-F78C-72A8F3F8C179}"/>
              </a:ext>
            </a:extLst>
          </p:cNvPr>
          <p:cNvSpPr>
            <a:spLocks noGrp="1"/>
          </p:cNvSpPr>
          <p:nvPr/>
        </p:nvSpPr>
        <p:spPr>
          <a:xfrm>
            <a:off x="4191000" y="4486275"/>
            <a:ext cx="4000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127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  <a:endParaRPr sz="1275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C3502805-88E5-4647-FE7F-8A992C5566BD}"/>
              </a:ext>
            </a:extLst>
          </p:cNvPr>
          <p:cNvSpPr>
            <a:spLocks noGrp="1"/>
          </p:cNvSpPr>
          <p:nvPr/>
        </p:nvSpPr>
        <p:spPr>
          <a:xfrm>
            <a:off x="4743450" y="4429125"/>
            <a:ext cx="233362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500"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12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Hệ</a:t>
            </a: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thống</a:t>
            </a: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Python Monitor App</a:t>
            </a:r>
            <a:endParaRPr sz="12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6E868BF-E344-9D41-C911-66D4E796A172}"/>
              </a:ext>
            </a:extLst>
          </p:cNvPr>
          <p:cNvSpPr>
            <a:spLocks noGrp="1"/>
          </p:cNvSpPr>
          <p:nvPr/>
        </p:nvSpPr>
        <p:spPr>
          <a:xfrm>
            <a:off x="4743450" y="4810125"/>
            <a:ext cx="229552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476"/>
          </a:bodyPr>
          <a:lstStyle/>
          <a:p>
            <a:pPr algn="l">
              <a:defRPr sz="1050" b="0">
                <a:solidFill>
                  <a:srgbClr val="C5CDED"/>
                </a:solidFill>
                <a:latin typeface="Arial"/>
                <a:ea typeface="Arial"/>
                <a:cs typeface="Arial"/>
              </a:defRPr>
            </a:pPr>
            <a:r>
              <a:rPr lang="en-US"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Nhận</a:t>
            </a:r>
            <a:r>
              <a:rPr lang="en-US"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các</a:t>
            </a:r>
            <a:r>
              <a:rPr lang="en-US"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log </a:t>
            </a:r>
            <a:r>
              <a:rPr lang="en-US"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đã</a:t>
            </a:r>
            <a:r>
              <a:rPr lang="en-US"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được</a:t>
            </a:r>
            <a:r>
              <a:rPr lang="en-US"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phân</a:t>
            </a:r>
            <a:r>
              <a:rPr lang="en-US" sz="1050" b="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b="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tích</a:t>
            </a:r>
            <a:r>
              <a:rPr lang="en-US" sz="105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tổng</a:t>
            </a:r>
            <a:r>
              <a:rPr lang="en-US" sz="105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hợp</a:t>
            </a:r>
            <a:r>
              <a:rPr lang="en-US" sz="105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lại</a:t>
            </a:r>
            <a:r>
              <a:rPr lang="en-US" sz="105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hiển</a:t>
            </a:r>
            <a:r>
              <a:rPr lang="en-US" sz="105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thị</a:t>
            </a:r>
            <a:r>
              <a:rPr lang="en-US" sz="105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thành</a:t>
            </a:r>
            <a:r>
              <a:rPr lang="en-US" sz="105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biểu</a:t>
            </a:r>
            <a:r>
              <a:rPr lang="en-US" sz="105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đồ</a:t>
            </a:r>
            <a:r>
              <a:rPr lang="en-US" sz="105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trực</a:t>
            </a:r>
            <a:r>
              <a:rPr lang="en-US" sz="1050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50" dirty="0" err="1">
                <a:solidFill>
                  <a:srgbClr val="C5CDED"/>
                </a:solidFill>
                <a:latin typeface="Arial"/>
                <a:ea typeface="Arial"/>
                <a:cs typeface="Arial"/>
              </a:rPr>
              <a:t>quan</a:t>
            </a:r>
            <a:endParaRPr sz="1050" b="0" dirty="0">
              <a:solidFill>
                <a:srgbClr val="C5CDED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9529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7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>
            <a:extLst>
              <a:ext uri="{FF2B5EF4-FFF2-40B4-BE49-F238E27FC236}">
                <a16:creationId xmlns:a16="http://schemas.microsoft.com/office/drawing/2014/main" id="{EF7BA2D8-9DCA-B867-8506-82CA788353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DF1E496-3AD1-4752-BDD5-851441109688}"/>
              </a:ext>
            </a:extLst>
          </p:cNvPr>
          <p:cNvSpPr>
            <a:spLocks noGrp="1"/>
          </p:cNvSpPr>
          <p:nvPr/>
        </p:nvSpPr>
        <p:spPr>
          <a:xfrm>
            <a:off x="495300" y="838200"/>
            <a:ext cx="685800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Kết luận và hướng phát triển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2D524E-8A20-4D88-A011-F29A5A26285F}"/>
              </a:ext>
            </a:extLst>
          </p:cNvPr>
          <p:cNvSpPr>
            <a:spLocks noGrp="1"/>
          </p:cNvSpPr>
          <p:nvPr/>
        </p:nvSpPr>
        <p:spPr>
          <a:xfrm>
            <a:off x="514350" y="1381125"/>
            <a:ext cx="6762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C5CDE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5CDED"/>
                </a:solidFill>
                <a:latin typeface="Arial"/>
                <a:ea typeface="Arial"/>
                <a:cs typeface="Arial"/>
              </a:rPr>
              <a:t>Giải pháp hỗ trợ nhận cảnh báo nhanh và theo dõi thuận tiện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88A629BC-19D1-4FEE-8126-99CA2D318F48}"/>
              </a:ext>
            </a:extLst>
          </p:cNvPr>
          <p:cNvSpPr>
            <a:spLocks noGrp="1"/>
          </p:cNvSpPr>
          <p:nvPr/>
        </p:nvSpPr>
        <p:spPr>
          <a:xfrm>
            <a:off x="495300" y="1847850"/>
            <a:ext cx="6762750" cy="0"/>
          </a:xfrm>
          <a:prstGeom prst="line">
            <a:avLst/>
          </a:prstGeom>
          <a:noFill/>
          <a:ln w="19050">
            <a:solidFill>
              <a:srgbClr val="5973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E96877-2007-4F4D-9CF3-487A0D357686}"/>
              </a:ext>
            </a:extLst>
          </p:cNvPr>
          <p:cNvSpPr>
            <a:spLocks noGrp="1"/>
          </p:cNvSpPr>
          <p:nvPr/>
        </p:nvSpPr>
        <p:spPr>
          <a:xfrm>
            <a:off x="5600700" y="6338887"/>
            <a:ext cx="3238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 lnSpcReduction="10000"/>
          </a:bodyPr>
          <a:lstStyle/>
          <a:p>
            <a:pPr algn="r">
              <a:defRPr sz="900" b="1">
                <a:solidFill>
                  <a:srgbClr val="C5CDED"/>
                </a:solidFill>
                <a:latin typeface="Arial"/>
                <a:ea typeface="Arial"/>
                <a:cs typeface="Arial"/>
              </a:defRPr>
            </a:pPr>
            <a:r>
              <a:rPr lang="en-US" sz="900" b="1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06</a:t>
            </a:r>
            <a:endParaRPr sz="900" b="1" dirty="0">
              <a:solidFill>
                <a:srgbClr val="C5CDE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61E11A2-C53C-4E31-BA81-1BCA22E2A49B}"/>
              </a:ext>
            </a:extLst>
          </p:cNvPr>
          <p:cNvSpPr>
            <a:spLocks noGrp="1"/>
          </p:cNvSpPr>
          <p:nvPr/>
        </p:nvSpPr>
        <p:spPr>
          <a:xfrm>
            <a:off x="523875" y="2143125"/>
            <a:ext cx="3333750" cy="1571625"/>
          </a:xfrm>
          <a:prstGeom prst="roundRect">
            <a:avLst>
              <a:gd name="adj" fmla="val 9091"/>
            </a:avLst>
          </a:prstGeom>
          <a:solidFill>
            <a:srgbClr val="101A42"/>
          </a:solidFill>
          <a:ln w="9525">
            <a:solidFill>
              <a:srgbClr val="2E43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F8C2B8-2C5D-4EB3-84F3-EEC5E1100117}"/>
              </a:ext>
            </a:extLst>
          </p:cNvPr>
          <p:cNvSpPr>
            <a:spLocks noGrp="1"/>
          </p:cNvSpPr>
          <p:nvPr/>
        </p:nvSpPr>
        <p:spPr>
          <a:xfrm>
            <a:off x="523875" y="2143125"/>
            <a:ext cx="66675" cy="1571625"/>
          </a:xfrm>
          <a:prstGeom prst="rect">
            <a:avLst/>
          </a:prstGeom>
          <a:solidFill>
            <a:srgbClr val="42D6A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A73E5F2-30B5-4C4D-92B5-75B57C5A07FE}"/>
              </a:ext>
            </a:extLst>
          </p:cNvPr>
          <p:cNvSpPr>
            <a:spLocks noGrp="1"/>
          </p:cNvSpPr>
          <p:nvPr/>
        </p:nvSpPr>
        <p:spPr>
          <a:xfrm>
            <a:off x="695325" y="2295525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42D6A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2BA1C9-ACE5-478D-89AB-D0C19C7F792A}"/>
              </a:ext>
            </a:extLst>
          </p:cNvPr>
          <p:cNvSpPr>
            <a:spLocks noGrp="1"/>
          </p:cNvSpPr>
          <p:nvPr/>
        </p:nvSpPr>
        <p:spPr>
          <a:xfrm>
            <a:off x="695325" y="2295525"/>
            <a:ext cx="4000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85519D-C33F-49CE-A416-452A3D8678ED}"/>
              </a:ext>
            </a:extLst>
          </p:cNvPr>
          <p:cNvSpPr>
            <a:spLocks noGrp="1"/>
          </p:cNvSpPr>
          <p:nvPr/>
        </p:nvSpPr>
        <p:spPr>
          <a:xfrm>
            <a:off x="1247775" y="2238375"/>
            <a:ext cx="2476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Kết quả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112907-76F2-4E6A-A1C2-CD2B95BEBFBD}"/>
              </a:ext>
            </a:extLst>
          </p:cNvPr>
          <p:cNvSpPr>
            <a:spLocks noGrp="1"/>
          </p:cNvSpPr>
          <p:nvPr/>
        </p:nvSpPr>
        <p:spPr>
          <a:xfrm>
            <a:off x="1247775" y="2619375"/>
            <a:ext cx="2438400" cy="1019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0">
                <a:solidFill>
                  <a:srgbClr val="C5CDE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5CDED"/>
                </a:solidFill>
                <a:latin typeface="Arial"/>
                <a:ea typeface="Arial"/>
                <a:cs typeface="Arial"/>
              </a:rPr>
              <a:t>Wazuh tự động chuyển cảnh báo. Python chuẩn hóa nội dung. Telegram giúp người quản trị nhận tin nhanh.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CEED253-FB11-429E-BC28-8D652C056A5D}"/>
              </a:ext>
            </a:extLst>
          </p:cNvPr>
          <p:cNvSpPr>
            <a:spLocks noGrp="1"/>
          </p:cNvSpPr>
          <p:nvPr/>
        </p:nvSpPr>
        <p:spPr>
          <a:xfrm>
            <a:off x="4095750" y="2143125"/>
            <a:ext cx="3333750" cy="1571625"/>
          </a:xfrm>
          <a:prstGeom prst="roundRect">
            <a:avLst>
              <a:gd name="adj" fmla="val 9091"/>
            </a:avLst>
          </a:prstGeom>
          <a:solidFill>
            <a:srgbClr val="101A42"/>
          </a:solidFill>
          <a:ln w="9525">
            <a:solidFill>
              <a:srgbClr val="2E43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FF79BD-CCB9-4E7E-B8BA-88E9852B8345}"/>
              </a:ext>
            </a:extLst>
          </p:cNvPr>
          <p:cNvSpPr>
            <a:spLocks noGrp="1"/>
          </p:cNvSpPr>
          <p:nvPr/>
        </p:nvSpPr>
        <p:spPr>
          <a:xfrm>
            <a:off x="4095750" y="2143125"/>
            <a:ext cx="66675" cy="1571625"/>
          </a:xfrm>
          <a:prstGeom prst="rect">
            <a:avLst/>
          </a:prstGeom>
          <a:solidFill>
            <a:srgbClr val="FF9D42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E3976C8-FC30-4087-B9EC-C0BF35974225}"/>
              </a:ext>
            </a:extLst>
          </p:cNvPr>
          <p:cNvSpPr>
            <a:spLocks noGrp="1"/>
          </p:cNvSpPr>
          <p:nvPr/>
        </p:nvSpPr>
        <p:spPr>
          <a:xfrm>
            <a:off x="4267200" y="2295525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FF9D4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DD65E57-F35A-4138-BF2B-437ED3A5E1F3}"/>
              </a:ext>
            </a:extLst>
          </p:cNvPr>
          <p:cNvSpPr>
            <a:spLocks noGrp="1"/>
          </p:cNvSpPr>
          <p:nvPr/>
        </p:nvSpPr>
        <p:spPr>
          <a:xfrm>
            <a:off x="4267200" y="2295525"/>
            <a:ext cx="4000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A7B023D-C782-443A-B6C3-6E60830B0426}"/>
              </a:ext>
            </a:extLst>
          </p:cNvPr>
          <p:cNvSpPr>
            <a:spLocks noGrp="1"/>
          </p:cNvSpPr>
          <p:nvPr/>
        </p:nvSpPr>
        <p:spPr>
          <a:xfrm>
            <a:off x="4819650" y="2238375"/>
            <a:ext cx="2476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Điểm cần kiểm soát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2962FD9-689B-40CB-9362-1CA8B2DBD6A8}"/>
              </a:ext>
            </a:extLst>
          </p:cNvPr>
          <p:cNvSpPr>
            <a:spLocks noGrp="1"/>
          </p:cNvSpPr>
          <p:nvPr/>
        </p:nvSpPr>
        <p:spPr>
          <a:xfrm>
            <a:off x="4819650" y="2619375"/>
            <a:ext cx="2438400" cy="1019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0">
                <a:solidFill>
                  <a:srgbClr val="C5CDE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5CDED"/>
                </a:solidFill>
                <a:latin typeface="Arial"/>
                <a:ea typeface="Arial"/>
                <a:cs typeface="Arial"/>
              </a:rPr>
              <a:t>Bảo vệ bot token, chọn level phù hợp và theo dõi lỗi kết nối.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03BCAE7-5D65-4C2E-83D4-4650417804C0}"/>
              </a:ext>
            </a:extLst>
          </p:cNvPr>
          <p:cNvSpPr>
            <a:spLocks noGrp="1"/>
          </p:cNvSpPr>
          <p:nvPr/>
        </p:nvSpPr>
        <p:spPr>
          <a:xfrm>
            <a:off x="523875" y="4000500"/>
            <a:ext cx="3333750" cy="1571625"/>
          </a:xfrm>
          <a:prstGeom prst="roundRect">
            <a:avLst>
              <a:gd name="adj" fmla="val 9091"/>
            </a:avLst>
          </a:prstGeom>
          <a:solidFill>
            <a:srgbClr val="101A42"/>
          </a:solidFill>
          <a:ln w="9525">
            <a:solidFill>
              <a:srgbClr val="2E43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C3FF3BC-1DCB-4FAE-9FA1-BD5639594173}"/>
              </a:ext>
            </a:extLst>
          </p:cNvPr>
          <p:cNvSpPr>
            <a:spLocks noGrp="1"/>
          </p:cNvSpPr>
          <p:nvPr/>
        </p:nvSpPr>
        <p:spPr>
          <a:xfrm>
            <a:off x="523875" y="4000500"/>
            <a:ext cx="66675" cy="1571625"/>
          </a:xfrm>
          <a:prstGeom prst="rect">
            <a:avLst/>
          </a:prstGeom>
          <a:solidFill>
            <a:srgbClr val="B99A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378B068-77CE-4D58-BCF5-2F30EC623310}"/>
              </a:ext>
            </a:extLst>
          </p:cNvPr>
          <p:cNvSpPr>
            <a:spLocks noGrp="1"/>
          </p:cNvSpPr>
          <p:nvPr/>
        </p:nvSpPr>
        <p:spPr>
          <a:xfrm>
            <a:off x="695325" y="4152900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B99A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D5B979D-5EB5-4EA9-8B52-4C865C38495E}"/>
              </a:ext>
            </a:extLst>
          </p:cNvPr>
          <p:cNvSpPr>
            <a:spLocks noGrp="1"/>
          </p:cNvSpPr>
          <p:nvPr/>
        </p:nvSpPr>
        <p:spPr>
          <a:xfrm>
            <a:off x="695325" y="4152900"/>
            <a:ext cx="4000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4482F7D-8D34-4D0C-8882-4E6719C8B196}"/>
              </a:ext>
            </a:extLst>
          </p:cNvPr>
          <p:cNvSpPr>
            <a:spLocks noGrp="1"/>
          </p:cNvSpPr>
          <p:nvPr/>
        </p:nvSpPr>
        <p:spPr>
          <a:xfrm>
            <a:off x="1247775" y="4095750"/>
            <a:ext cx="2476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Hướng phát triển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E480089-EAC2-4C36-9102-3007012D9C61}"/>
              </a:ext>
            </a:extLst>
          </p:cNvPr>
          <p:cNvSpPr>
            <a:spLocks noGrp="1"/>
          </p:cNvSpPr>
          <p:nvPr/>
        </p:nvSpPr>
        <p:spPr>
          <a:xfrm>
            <a:off x="1247775" y="4476750"/>
            <a:ext cx="2438400" cy="1019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0">
                <a:solidFill>
                  <a:srgbClr val="C5CDE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5CDED"/>
                </a:solidFill>
                <a:latin typeface="Arial"/>
                <a:ea typeface="Arial"/>
                <a:cs typeface="Arial"/>
              </a:rPr>
              <a:t>Xác nhận sự cố từ Telegram, phân quyền và lưu lịch sử gửi.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EF9871E-403D-4C99-8BFF-473481064C71}"/>
              </a:ext>
            </a:extLst>
          </p:cNvPr>
          <p:cNvSpPr>
            <a:spLocks noGrp="1"/>
          </p:cNvSpPr>
          <p:nvPr/>
        </p:nvSpPr>
        <p:spPr>
          <a:xfrm>
            <a:off x="4095750" y="4000500"/>
            <a:ext cx="3333750" cy="1571625"/>
          </a:xfrm>
          <a:prstGeom prst="roundRect">
            <a:avLst>
              <a:gd name="adj" fmla="val 9091"/>
            </a:avLst>
          </a:prstGeom>
          <a:solidFill>
            <a:srgbClr val="101A42"/>
          </a:solidFill>
          <a:ln w="9525">
            <a:solidFill>
              <a:srgbClr val="2E43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D7D9E0A-07D3-4517-95C2-465642961AD3}"/>
              </a:ext>
            </a:extLst>
          </p:cNvPr>
          <p:cNvSpPr>
            <a:spLocks noGrp="1"/>
          </p:cNvSpPr>
          <p:nvPr/>
        </p:nvSpPr>
        <p:spPr>
          <a:xfrm>
            <a:off x="4095750" y="4000500"/>
            <a:ext cx="66675" cy="1571625"/>
          </a:xfrm>
          <a:prstGeom prst="rect">
            <a:avLst/>
          </a:prstGeom>
          <a:solidFill>
            <a:srgbClr val="28A8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D5EB956-A0D8-427D-BB07-A79843825B62}"/>
              </a:ext>
            </a:extLst>
          </p:cNvPr>
          <p:cNvSpPr>
            <a:spLocks noGrp="1"/>
          </p:cNvSpPr>
          <p:nvPr/>
        </p:nvSpPr>
        <p:spPr>
          <a:xfrm>
            <a:off x="4267200" y="4152900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28A8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2AD92A6-73D0-44BE-8C78-0C32B848AF57}"/>
              </a:ext>
            </a:extLst>
          </p:cNvPr>
          <p:cNvSpPr>
            <a:spLocks noGrp="1"/>
          </p:cNvSpPr>
          <p:nvPr/>
        </p:nvSpPr>
        <p:spPr>
          <a:xfrm>
            <a:off x="4267200" y="4152900"/>
            <a:ext cx="4000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3C20FA7-EC44-42D6-A6DF-E54B4719A885}"/>
              </a:ext>
            </a:extLst>
          </p:cNvPr>
          <p:cNvSpPr>
            <a:spLocks noGrp="1"/>
          </p:cNvSpPr>
          <p:nvPr/>
        </p:nvSpPr>
        <p:spPr>
          <a:xfrm>
            <a:off x="4819650" y="4095750"/>
            <a:ext cx="2476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Mở rộng ứng dụng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65D9D12-EB71-4C8E-B2D4-C494B91EAD6D}"/>
              </a:ext>
            </a:extLst>
          </p:cNvPr>
          <p:cNvSpPr>
            <a:spLocks noGrp="1"/>
          </p:cNvSpPr>
          <p:nvPr/>
        </p:nvSpPr>
        <p:spPr>
          <a:xfrm>
            <a:off x="4819650" y="4476750"/>
            <a:ext cx="2438400" cy="1019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0">
                <a:solidFill>
                  <a:srgbClr val="C5CDE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5CDED"/>
                </a:solidFill>
                <a:latin typeface="Arial"/>
                <a:ea typeface="Arial"/>
                <a:cs typeface="Arial"/>
              </a:rPr>
              <a:t>Cập nhật dashboard thời gian thực và bổ sung bộ lọc cảnh báo.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967FE57-94B0-4B00-A3B5-63CF17C528F5}"/>
              </a:ext>
            </a:extLst>
          </p:cNvPr>
          <p:cNvSpPr>
            <a:spLocks noGrp="1"/>
          </p:cNvSpPr>
          <p:nvPr/>
        </p:nvSpPr>
        <p:spPr>
          <a:xfrm>
            <a:off x="2000250" y="5905500"/>
            <a:ext cx="3905250" cy="333375"/>
          </a:xfrm>
          <a:prstGeom prst="roundRect">
            <a:avLst>
              <a:gd name="adj" fmla="val 48571"/>
            </a:avLst>
          </a:prstGeom>
          <a:solidFill>
            <a:srgbClr val="B99A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8E1ED8D-FE06-4577-8C36-B537806FB958}"/>
              </a:ext>
            </a:extLst>
          </p:cNvPr>
          <p:cNvSpPr>
            <a:spLocks noGrp="1"/>
          </p:cNvSpPr>
          <p:nvPr/>
        </p:nvSpPr>
        <p:spPr>
          <a:xfrm>
            <a:off x="2076450" y="5905500"/>
            <a:ext cx="37528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02071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2071B"/>
                </a:solidFill>
                <a:latin typeface="Arial"/>
                <a:ea typeface="Arial"/>
                <a:cs typeface="Arial"/>
              </a:rPr>
              <a:t>WAZUH   •   PYTHON   •   TELEGRAM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965A718-412C-A03A-3B70-4317180027A0}"/>
              </a:ext>
            </a:extLst>
          </p:cNvPr>
          <p:cNvSpPr txBox="1"/>
          <p:nvPr/>
        </p:nvSpPr>
        <p:spPr>
          <a:xfrm>
            <a:off x="10251948" y="0"/>
            <a:ext cx="19400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IE221.F33.LT.CNTT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19366CA7-2B1A-71D0-C2EB-FF4C907870A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4276"/>
          <a:stretch>
            <a:fillRect/>
          </a:stretch>
        </p:blipFill>
        <p:spPr>
          <a:xfrm>
            <a:off x="137690" y="176585"/>
            <a:ext cx="613642" cy="482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809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71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4ECF09-8982-F0F9-1C0E-A1155D52E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>
            <a:extLst>
              <a:ext uri="{FF2B5EF4-FFF2-40B4-BE49-F238E27FC236}">
                <a16:creationId xmlns:a16="http://schemas.microsoft.com/office/drawing/2014/main" id="{D9C2E292-0289-93CA-797C-6A8CFBB4DC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DA216EB3-9047-D4DD-6CD3-E5BCB39801C9}"/>
              </a:ext>
            </a:extLst>
          </p:cNvPr>
          <p:cNvSpPr txBox="1"/>
          <p:nvPr/>
        </p:nvSpPr>
        <p:spPr>
          <a:xfrm>
            <a:off x="10251948" y="0"/>
            <a:ext cx="19400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IE221.F33.LT.CNTT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1F35AB80-0204-F6A0-CE3B-05B2B7FD11C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4276"/>
          <a:stretch>
            <a:fillRect/>
          </a:stretch>
        </p:blipFill>
        <p:spPr>
          <a:xfrm>
            <a:off x="137690" y="176585"/>
            <a:ext cx="613642" cy="48200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CB94E09-1E7E-3F53-F80D-920542F954FC}"/>
              </a:ext>
            </a:extLst>
          </p:cNvPr>
          <p:cNvSpPr txBox="1"/>
          <p:nvPr/>
        </p:nvSpPr>
        <p:spPr>
          <a:xfrm>
            <a:off x="444511" y="2696466"/>
            <a:ext cx="57515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FF00"/>
                </a:solidFill>
              </a:rPr>
              <a:t>THANKS FOR WATCHING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C59677-D23B-6037-1A27-01408DFEEF36}"/>
              </a:ext>
            </a:extLst>
          </p:cNvPr>
          <p:cNvSpPr>
            <a:spLocks noGrp="1"/>
          </p:cNvSpPr>
          <p:nvPr/>
        </p:nvSpPr>
        <p:spPr>
          <a:xfrm>
            <a:off x="5600700" y="6338887"/>
            <a:ext cx="3238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 lnSpcReduction="10000"/>
          </a:bodyPr>
          <a:lstStyle/>
          <a:p>
            <a:pPr algn="r">
              <a:defRPr sz="900" b="1">
                <a:solidFill>
                  <a:srgbClr val="C5CDED"/>
                </a:solidFill>
                <a:latin typeface="Arial"/>
                <a:ea typeface="Arial"/>
                <a:cs typeface="Arial"/>
              </a:defRPr>
            </a:pPr>
            <a:r>
              <a:rPr lang="en-US" sz="900" b="1" dirty="0">
                <a:solidFill>
                  <a:srgbClr val="C5CDED"/>
                </a:solidFill>
                <a:latin typeface="Arial"/>
                <a:ea typeface="Arial"/>
                <a:cs typeface="Arial"/>
              </a:rPr>
              <a:t>07</a:t>
            </a:r>
            <a:endParaRPr sz="900" b="1" dirty="0">
              <a:solidFill>
                <a:srgbClr val="C5CDED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178177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627</Words>
  <Application>Microsoft Office PowerPoint</Application>
  <DocSecurity>0</DocSecurity>
  <PresentationFormat>Widescreen</PresentationFormat>
  <Paragraphs>107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Trần Tấn Tài</cp:lastModifiedBy>
  <cp:revision>4</cp:revision>
  <dcterms:created xsi:type="dcterms:W3CDTF">2026-09-17T05:01:41Z</dcterms:created>
  <dcterms:modified xsi:type="dcterms:W3CDTF">2026-09-17T09:11:47Z</dcterms:modified>
</cp:coreProperties>
</file>